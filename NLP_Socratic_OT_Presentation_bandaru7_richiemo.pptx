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6" r:id="rId2"/>
    <p:sldId id="257" r:id="rId3"/>
    <p:sldId id="267" r:id="rId4"/>
    <p:sldId id="268" r:id="rId5"/>
    <p:sldId id="260" r:id="rId6"/>
    <p:sldId id="261" r:id="rId7"/>
    <p:sldId id="271" r:id="rId8"/>
    <p:sldId id="262" r:id="rId9"/>
    <p:sldId id="263" r:id="rId10"/>
    <p:sldId id="272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8FC"/>
    <a:srgbClr val="FF41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476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22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903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7B9B5-5955-5C5A-2A59-45B13FA45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FC24B-D7F2-B1CD-2838-7AFE3CA29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DA60B6-7468-BBF3-A5A9-35C5E39F6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project brief for Project 3 requirements.
User-provided PPT draft content used as reference for structure and key claims.
Design uses original layout generated for this presentation.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5691A-2716-4D7F-35DE-49BCC960A0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71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Project brief: standard AI gives answers away too quickly; system should support clinical reasoning.
PPT draft reference slide: "Problem Framing and Why Standard AI Is Not Enough."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1DFD7-DCC6-90AD-C21D-F689C8556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F0213C-4539-0AE3-4AEF-07E1C6759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A99C6C-F3B3-FE9A-37E7-5A5E44D20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Project brief requirement: tutor-not-teller philosophy with no direct answer in first two turns.
PPT draft reference slide: “Requirements We Are Targeting.”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DDE81-BB36-EA9A-911F-F096F165E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503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DD756-5A79-1A30-CE4E-04FB523BF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156B94-0CFC-0D24-1E5B-F3DA33EF7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DA13A5-112A-BAD4-85A9-F2B75C518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code files summarized earlier in chat: extraction, filtering, chunking, image download, metadata build, completeness checks.
PPT draft reference slide: “Data Plan and Initial Evidence.”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5CE7A-FBB0-9EFE-AE5F-B4BEBE32D3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281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architecture diagram image used on this slide.
Project brief and prior analysis: shared grounded retrieval layer, multimodal analyzer, tutoring controller, response generator, memory and assessment.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PPT draft reference slide: “Technical Stack.”
Project brief explicitly mentions ChromaDB/FAISS and VLM such as GPT-4o or LLaVA; local LLMs like Llama 3/Mistral recommended for cost/privacy tradeoffs.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DCFF2-66BB-FB18-2D75-188EF4CB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8658F0-9780-CCD8-5AD7-8B3E75604A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1A600-8C84-8C96-23F8-8E3A3C0B24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PPT draft reference slide: “Technical Stack.”
Project brief explicitly mentions ChromaDB/FAISS and VLM such as GPT-4o or LLaVA; local LLMs like Llama 3/Mistral recommended for cost/privacy tradeoffs.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FCFD9-7BE0-D95B-7090-1646FA702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86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Project brief: interactive memory over ~15 minute sessions, plus synthesis and assessment via free-text clinical reasoning prompts.
PPT draft reference slide: “Tutoring Logic, Memory, and Assessment.”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Project brief task: VLM-based multimodal diagram tutoring using GPT-4o or LLaVA.
Project brief evaluation metrics: groundedness, Socratic purity, multimodal performance, generalizability.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68134-5DC4-5C98-8B02-550F047B4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B5DBD-1423-B5A2-DD5C-62A5497D7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63005-5AC6-4A27-F074-09540BA92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Project brief task: VLM-based multimodal diagram tutoring using GPT-4o or LLaVA.
Project brief evaluation metrics: groundedness, Socratic purity, multimodal performance, generalizability.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D83C8-8135-D807-351C-1334814F6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0370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PPT draft reference slide: “Evaluation Plan and Baseline.”
Project brief grading guidance: fit within 10-minute slot and ensure all team members actively participate.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Summary uses only user-provided project brief, draft PPT, architecture diagram, and earlier analysis of uploaded code files.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B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ACD838-4B83-F460-6D3F-A46343CA2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2A6DE5-A087-D7FF-3C53-37FB9035D0B7}"/>
              </a:ext>
            </a:extLst>
          </p:cNvPr>
          <p:cNvSpPr/>
          <p:nvPr/>
        </p:nvSpPr>
        <p:spPr>
          <a:xfrm>
            <a:off x="0" y="0"/>
            <a:ext cx="7498080" cy="6858000"/>
          </a:xfrm>
          <a:prstGeom prst="rect">
            <a:avLst/>
          </a:prstGeom>
          <a:solidFill>
            <a:srgbClr val="0E1B2B"/>
          </a:solidFill>
          <a:ln w="12700">
            <a:solidFill>
              <a:srgbClr val="0E1B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9046D5E-CA47-BFCD-2356-F7A004DDD7EA}"/>
              </a:ext>
            </a:extLst>
          </p:cNvPr>
          <p:cNvSpPr/>
          <p:nvPr/>
        </p:nvSpPr>
        <p:spPr>
          <a:xfrm>
            <a:off x="7498080" y="0"/>
            <a:ext cx="4693615" cy="6858000"/>
          </a:xfrm>
          <a:prstGeom prst="rect">
            <a:avLst/>
          </a:prstGeom>
          <a:solidFill>
            <a:srgbClr val="12253C"/>
          </a:solidFill>
          <a:ln w="12700">
            <a:solidFill>
              <a:srgbClr val="1225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0941B90-74A1-242F-8BB0-8CFCDAAE4E58}"/>
              </a:ext>
            </a:extLst>
          </p:cNvPr>
          <p:cNvSpPr/>
          <p:nvPr/>
        </p:nvSpPr>
        <p:spPr>
          <a:xfrm>
            <a:off x="658368" y="676656"/>
            <a:ext cx="2057400" cy="310896"/>
          </a:xfrm>
          <a:prstGeom prst="roundRect">
            <a:avLst>
              <a:gd name="adj" fmla="val 35294"/>
            </a:avLst>
          </a:prstGeom>
          <a:solidFill>
            <a:srgbClr val="3EC7D3">
              <a:alpha val="92000"/>
            </a:srgbClr>
          </a:solidFill>
          <a:ln w="12700">
            <a:solidFill>
              <a:srgbClr val="3EC7D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1DCC8EA-9640-6B8E-3425-3E291B52BBAB}"/>
              </a:ext>
            </a:extLst>
          </p:cNvPr>
          <p:cNvSpPr/>
          <p:nvPr/>
        </p:nvSpPr>
        <p:spPr>
          <a:xfrm>
            <a:off x="822960" y="7406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>
                <a:solidFill>
                  <a:srgbClr val="FFFFFF"/>
                </a:solidFill>
              </a:rPr>
              <a:t>Project 3 | Implementation Presentation</a:t>
            </a:r>
            <a:endParaRPr lang="en-US" sz="9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28F1B7F-DA23-4F11-E5AC-C63AA851B885}"/>
              </a:ext>
            </a:extLst>
          </p:cNvPr>
          <p:cNvSpPr/>
          <p:nvPr/>
        </p:nvSpPr>
        <p:spPr>
          <a:xfrm>
            <a:off x="822960" y="123444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Socratic-OT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AA1653F-2268-50CD-912E-5D29D2ACD976}"/>
              </a:ext>
            </a:extLst>
          </p:cNvPr>
          <p:cNvSpPr/>
          <p:nvPr/>
        </p:nvSpPr>
        <p:spPr>
          <a:xfrm>
            <a:off x="822960" y="19202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900">
                <a:solidFill>
                  <a:srgbClr val="DCE6F5"/>
                </a:solidFill>
              </a:rPr>
              <a:t>How we are implementing a grounded multimodal Socratic tutor for anatomy and neuroscience in Occupational Therapy</a:t>
            </a:r>
            <a:endParaRPr lang="en-US" sz="1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8F43BBD-00CB-3DCD-527E-A61C4B993BA7}"/>
              </a:ext>
            </a:extLst>
          </p:cNvPr>
          <p:cNvSpPr/>
          <p:nvPr/>
        </p:nvSpPr>
        <p:spPr>
          <a:xfrm>
            <a:off x="841248" y="2898648"/>
            <a:ext cx="1389888" cy="310896"/>
          </a:xfrm>
          <a:prstGeom prst="roundRect">
            <a:avLst>
              <a:gd name="adj" fmla="val 35294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63E395C-B4E1-1E8B-8815-AD9A8DB593A6}"/>
              </a:ext>
            </a:extLst>
          </p:cNvPr>
          <p:cNvSpPr/>
          <p:nvPr/>
        </p:nvSpPr>
        <p:spPr>
          <a:xfrm>
            <a:off x="841248" y="293522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Grounded RAG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C006E1A-0641-CE3B-5390-A4C73924FCBE}"/>
              </a:ext>
            </a:extLst>
          </p:cNvPr>
          <p:cNvSpPr/>
          <p:nvPr/>
        </p:nvSpPr>
        <p:spPr>
          <a:xfrm>
            <a:off x="2331720" y="2898648"/>
            <a:ext cx="1682496" cy="310896"/>
          </a:xfrm>
          <a:prstGeom prst="roundRect">
            <a:avLst>
              <a:gd name="adj" fmla="val 35294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EE07FF4-9A58-2D82-8DCD-CAAD52B96E10}"/>
              </a:ext>
            </a:extLst>
          </p:cNvPr>
          <p:cNvSpPr/>
          <p:nvPr/>
        </p:nvSpPr>
        <p:spPr>
          <a:xfrm>
            <a:off x="2331720" y="293522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Image + Text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C3ABDF0-B29A-6221-D1D5-CAAA28C8286C}"/>
              </a:ext>
            </a:extLst>
          </p:cNvPr>
          <p:cNvSpPr/>
          <p:nvPr/>
        </p:nvSpPr>
        <p:spPr>
          <a:xfrm>
            <a:off x="4133088" y="2898648"/>
            <a:ext cx="1645920" cy="310896"/>
          </a:xfrm>
          <a:prstGeom prst="roundRect">
            <a:avLst>
              <a:gd name="adj" fmla="val 3529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B7FE9C0-3FF5-58EC-E870-82FD8C1E03F0}"/>
              </a:ext>
            </a:extLst>
          </p:cNvPr>
          <p:cNvSpPr/>
          <p:nvPr/>
        </p:nvSpPr>
        <p:spPr>
          <a:xfrm>
            <a:off x="4133088" y="29352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Tutor-not-Teller</a:t>
            </a:r>
            <a:endParaRPr lang="en-US" sz="10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98A6BF6-A931-0396-4E48-658C3BDB114C}"/>
              </a:ext>
            </a:extLst>
          </p:cNvPr>
          <p:cNvGrpSpPr/>
          <p:nvPr/>
        </p:nvGrpSpPr>
        <p:grpSpPr>
          <a:xfrm>
            <a:off x="7360920" y="822960"/>
            <a:ext cx="3977640" cy="4983480"/>
            <a:chOff x="7360920" y="822960"/>
            <a:chExt cx="3977640" cy="4983480"/>
          </a:xfrm>
        </p:grpSpPr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B174483C-B78D-6E88-BA93-92208DE3335C}"/>
                </a:ext>
              </a:extLst>
            </p:cNvPr>
            <p:cNvSpPr/>
            <p:nvPr/>
          </p:nvSpPr>
          <p:spPr>
            <a:xfrm>
              <a:off x="7360920" y="822960"/>
              <a:ext cx="3977640" cy="4983480"/>
            </a:xfrm>
            <a:prstGeom prst="roundRect">
              <a:avLst>
                <a:gd name="adj" fmla="val 3218"/>
              </a:avLst>
            </a:prstGeom>
            <a:solidFill>
              <a:srgbClr val="F7FBFF"/>
            </a:solidFill>
            <a:ln w="12700">
              <a:solidFill>
                <a:srgbClr val="234A6A"/>
              </a:solidFill>
              <a:prstDash val="solid"/>
            </a:ln>
            <a:effectLst>
              <a:outerShdw blurRad="15240" dist="7620" dir="27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33A9907E-46F2-0400-8104-6BF7B472D833}"/>
                </a:ext>
              </a:extLst>
            </p:cNvPr>
            <p:cNvSpPr/>
            <p:nvPr/>
          </p:nvSpPr>
          <p:spPr>
            <a:xfrm>
              <a:off x="7635240" y="1097280"/>
              <a:ext cx="15544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3EC7D3"/>
                  </a:solidFill>
                </a:rPr>
                <a:t>Milestone - 1</a:t>
              </a:r>
              <a:endParaRPr lang="en-US" sz="1000" dirty="0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99525F3E-72B0-CBBB-45C9-98AB1FD3AB03}"/>
                </a:ext>
              </a:extLst>
            </p:cNvPr>
            <p:cNvSpPr/>
            <p:nvPr/>
          </p:nvSpPr>
          <p:spPr>
            <a:xfrm>
              <a:off x="7662672" y="1481328"/>
              <a:ext cx="310896" cy="310896"/>
            </a:xfrm>
            <a:prstGeom prst="ellipse">
              <a:avLst/>
            </a:prstGeom>
            <a:solidFill>
              <a:srgbClr val="3EC7D3"/>
            </a:solidFill>
            <a:ln w="12700">
              <a:solidFill>
                <a:srgbClr val="3EC7D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3146EEBE-BE77-9E6E-A47C-84C9056E7947}"/>
                </a:ext>
              </a:extLst>
            </p:cNvPr>
            <p:cNvSpPr/>
            <p:nvPr/>
          </p:nvSpPr>
          <p:spPr>
            <a:xfrm>
              <a:off x="7662672" y="1499616"/>
              <a:ext cx="31089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1</a:t>
              </a:r>
              <a:endParaRPr lang="en-US" sz="1300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AC07006F-DA7A-2D6D-C8AB-F035E08C9E67}"/>
                </a:ext>
              </a:extLst>
            </p:cNvPr>
            <p:cNvSpPr/>
            <p:nvPr/>
          </p:nvSpPr>
          <p:spPr>
            <a:xfrm>
              <a:off x="8083296" y="1499616"/>
              <a:ext cx="28346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20" b="1" dirty="0">
                  <a:solidFill>
                    <a:srgbClr val="122033"/>
                  </a:solidFill>
                </a:rPr>
                <a:t>Problem &amp; why direct-answer AI fails</a:t>
              </a:r>
              <a:endParaRPr lang="en-US" sz="1220" dirty="0"/>
            </a:p>
          </p:txBody>
        </p:sp>
        <p:sp>
          <p:nvSpPr>
            <p:cNvPr id="19" name="Shape 17">
              <a:extLst>
                <a:ext uri="{FF2B5EF4-FFF2-40B4-BE49-F238E27FC236}">
                  <a16:creationId xmlns:a16="http://schemas.microsoft.com/office/drawing/2014/main" id="{D41E0948-B5D7-343C-AD85-DF912081846B}"/>
                </a:ext>
              </a:extLst>
            </p:cNvPr>
            <p:cNvSpPr/>
            <p:nvPr/>
          </p:nvSpPr>
          <p:spPr>
            <a:xfrm>
              <a:off x="7662672" y="2212848"/>
              <a:ext cx="310896" cy="31089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A3043697-1C55-59D8-A790-BF774EBC124E}"/>
                </a:ext>
              </a:extLst>
            </p:cNvPr>
            <p:cNvSpPr/>
            <p:nvPr/>
          </p:nvSpPr>
          <p:spPr>
            <a:xfrm>
              <a:off x="7662672" y="2231136"/>
              <a:ext cx="31089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2</a:t>
              </a:r>
              <a:endParaRPr lang="en-US" sz="1300" dirty="0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ECFE6487-1E31-F203-D149-8A84F03D6C62}"/>
                </a:ext>
              </a:extLst>
            </p:cNvPr>
            <p:cNvSpPr/>
            <p:nvPr/>
          </p:nvSpPr>
          <p:spPr>
            <a:xfrm>
              <a:off x="8083296" y="2231136"/>
              <a:ext cx="28346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20" dirty="0">
                  <a:solidFill>
                    <a:srgbClr val="122033"/>
                  </a:solidFill>
                </a:rPr>
                <a:t>What makes this tutor Socratic</a:t>
              </a:r>
              <a:endParaRPr lang="en-US" sz="1220" dirty="0"/>
            </a:p>
          </p:txBody>
        </p:sp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B08C4BA7-FB3C-52E3-1B9A-DF97849FE0D8}"/>
                </a:ext>
              </a:extLst>
            </p:cNvPr>
            <p:cNvSpPr/>
            <p:nvPr/>
          </p:nvSpPr>
          <p:spPr>
            <a:xfrm>
              <a:off x="7662672" y="2944368"/>
              <a:ext cx="310896" cy="310896"/>
            </a:xfrm>
            <a:prstGeom prst="ellipse">
              <a:avLst/>
            </a:prstGeom>
            <a:solidFill>
              <a:srgbClr val="14B8A6"/>
            </a:solidFill>
            <a:ln w="12700">
              <a:solidFill>
                <a:srgbClr val="14B8A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4459A6E2-DA12-882A-E880-7E103BA338E8}"/>
                </a:ext>
              </a:extLst>
            </p:cNvPr>
            <p:cNvSpPr/>
            <p:nvPr/>
          </p:nvSpPr>
          <p:spPr>
            <a:xfrm>
              <a:off x="7662672" y="2962656"/>
              <a:ext cx="31089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3</a:t>
              </a:r>
              <a:endParaRPr lang="en-US" sz="1300" dirty="0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FADDEFEA-8503-CE5D-FC5F-03B22BA44556}"/>
                </a:ext>
              </a:extLst>
            </p:cNvPr>
            <p:cNvSpPr/>
            <p:nvPr/>
          </p:nvSpPr>
          <p:spPr>
            <a:xfrm>
              <a:off x="8083296" y="2962656"/>
              <a:ext cx="28346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20" dirty="0">
                  <a:solidFill>
                    <a:srgbClr val="122033"/>
                  </a:solidFill>
                </a:rPr>
                <a:t>Knowledge base and code pipeline</a:t>
              </a:r>
              <a:endParaRPr lang="en-US" sz="1220" dirty="0"/>
            </a:p>
          </p:txBody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28B7CAC9-0C21-AF36-4E5E-EFFE7D5C6433}"/>
                </a:ext>
              </a:extLst>
            </p:cNvPr>
            <p:cNvSpPr/>
            <p:nvPr/>
          </p:nvSpPr>
          <p:spPr>
            <a:xfrm>
              <a:off x="7662672" y="3675888"/>
              <a:ext cx="310896" cy="310896"/>
            </a:xfrm>
            <a:prstGeom prst="ellipse">
              <a:avLst/>
            </a:prstGeom>
            <a:solidFill>
              <a:srgbClr val="8B5CF6"/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6E739966-5718-045B-3090-647B0BC23332}"/>
                </a:ext>
              </a:extLst>
            </p:cNvPr>
            <p:cNvSpPr/>
            <p:nvPr/>
          </p:nvSpPr>
          <p:spPr>
            <a:xfrm>
              <a:off x="7662672" y="3694176"/>
              <a:ext cx="31089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4</a:t>
              </a:r>
              <a:endParaRPr lang="en-US" sz="1300" dirty="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BC9CC9DF-31D7-8EF2-8740-FCC718DC61C1}"/>
                </a:ext>
              </a:extLst>
            </p:cNvPr>
            <p:cNvSpPr/>
            <p:nvPr/>
          </p:nvSpPr>
          <p:spPr>
            <a:xfrm>
              <a:off x="8083296" y="3694176"/>
              <a:ext cx="28346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20" dirty="0">
                  <a:solidFill>
                    <a:srgbClr val="122033"/>
                  </a:solidFill>
                </a:rPr>
                <a:t>Runtime workflow + technical stack</a:t>
              </a:r>
              <a:endParaRPr lang="en-US" sz="1220" dirty="0"/>
            </a:p>
          </p:txBody>
        </p:sp>
        <p:sp>
          <p:nvSpPr>
            <p:cNvPr id="28" name="Shape 26">
              <a:extLst>
                <a:ext uri="{FF2B5EF4-FFF2-40B4-BE49-F238E27FC236}">
                  <a16:creationId xmlns:a16="http://schemas.microsoft.com/office/drawing/2014/main" id="{34E97D5B-0057-CF25-9C11-5E9E5D02ED7C}"/>
                </a:ext>
              </a:extLst>
            </p:cNvPr>
            <p:cNvSpPr/>
            <p:nvPr/>
          </p:nvSpPr>
          <p:spPr>
            <a:xfrm>
              <a:off x="7662672" y="4407408"/>
              <a:ext cx="310896" cy="310896"/>
            </a:xfrm>
            <a:prstGeom prst="ellipse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1818EF72-E884-34A5-9E6A-C68B8A50EF53}"/>
                </a:ext>
              </a:extLst>
            </p:cNvPr>
            <p:cNvSpPr/>
            <p:nvPr/>
          </p:nvSpPr>
          <p:spPr>
            <a:xfrm>
              <a:off x="7662672" y="4425696"/>
              <a:ext cx="31089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5</a:t>
              </a:r>
              <a:endParaRPr lang="en-US" sz="1300" dirty="0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677E8F08-8095-4C4C-6C54-106BBD87E8C2}"/>
                </a:ext>
              </a:extLst>
            </p:cNvPr>
            <p:cNvSpPr/>
            <p:nvPr/>
          </p:nvSpPr>
          <p:spPr>
            <a:xfrm>
              <a:off x="8083296" y="4425696"/>
              <a:ext cx="28346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20" dirty="0">
                  <a:solidFill>
                    <a:srgbClr val="122033"/>
                  </a:solidFill>
                </a:rPr>
                <a:t>Evaluation, roadmap, and team plan</a:t>
              </a:r>
              <a:endParaRPr lang="en-US" sz="1220" dirty="0"/>
            </a:p>
          </p:txBody>
        </p:sp>
      </p:grpSp>
      <p:sp>
        <p:nvSpPr>
          <p:cNvPr id="31" name="Text 29">
            <a:extLst>
              <a:ext uri="{FF2B5EF4-FFF2-40B4-BE49-F238E27FC236}">
                <a16:creationId xmlns:a16="http://schemas.microsoft.com/office/drawing/2014/main" id="{73D0504B-AC51-44DD-0392-18A6C19ED1AE}"/>
              </a:ext>
            </a:extLst>
          </p:cNvPr>
          <p:cNvSpPr/>
          <p:nvPr/>
        </p:nvSpPr>
        <p:spPr>
          <a:xfrm>
            <a:off x="841248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EC7D3"/>
                </a:solidFill>
              </a:rPr>
              <a:t>Team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3706E19-5396-3985-D0ED-E8A7D8DEDE65}"/>
              </a:ext>
            </a:extLst>
          </p:cNvPr>
          <p:cNvSpPr/>
          <p:nvPr/>
        </p:nvSpPr>
        <p:spPr>
          <a:xfrm>
            <a:off x="841248" y="50474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Vidhyadhari Bandaru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Richie Ilavarapu</a:t>
            </a:r>
            <a:endParaRPr lang="en-US" sz="16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F0FF528-ED2B-CBBF-00D7-CC4BF74766CC}"/>
              </a:ext>
            </a:extLst>
          </p:cNvPr>
          <p:cNvSpPr/>
          <p:nvPr/>
        </p:nvSpPr>
        <p:spPr>
          <a:xfrm>
            <a:off x="841248" y="57607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D83C43A5-AE8D-D09C-EAA3-608FB9BEB578}"/>
              </a:ext>
            </a:extLst>
          </p:cNvPr>
          <p:cNvSpPr/>
          <p:nvPr/>
        </p:nvSpPr>
        <p:spPr>
          <a:xfrm>
            <a:off x="11384280" y="647395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E3F0"/>
                </a:solidFill>
              </a:rPr>
              <a:t>1</a:t>
            </a:r>
            <a:endParaRPr lang="en-US" sz="9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67D520D-3FF7-B6C6-C7F4-05585E97AE44}"/>
              </a:ext>
            </a:extLst>
          </p:cNvPr>
          <p:cNvSpPr/>
          <p:nvPr/>
        </p:nvSpPr>
        <p:spPr>
          <a:xfrm>
            <a:off x="548640" y="645566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7EA"/>
                </a:solidFill>
              </a:rPr>
              <a:t>Socratic-OT | Project 3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285353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EC7D3"/>
          </a:solidFill>
          <a:ln w="12700">
            <a:solidFill>
              <a:srgbClr val="3EC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EC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framing: why standard AI is not enough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60704"/>
            <a:ext cx="11064240" cy="0"/>
          </a:xfrm>
          <a:prstGeom prst="line">
            <a:avLst/>
          </a:prstGeom>
          <a:noFill/>
          <a:ln w="1524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36118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109728" cy="2011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77824" y="1490472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3"/>
                </a:solidFill>
              </a:rPr>
              <a:t>Why this is a bottleneck course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7824" y="1801368"/>
            <a:ext cx="3227832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>
              <a:buSzPct val="100000"/>
            </a:pPr>
            <a:r>
              <a:rPr lang="en-US" sz="1050" dirty="0">
                <a:solidFill>
                  <a:srgbClr val="5B6678"/>
                </a:solidFill>
              </a:rPr>
              <a:t>• OT students have to master high content density topics i.e. , gross anatomy and neuroscience</a:t>
            </a:r>
            <a:endParaRPr lang="en-US" sz="1050" dirty="0"/>
          </a:p>
          <a:p>
            <a:pPr>
              <a:buSzPct val="100000"/>
            </a:pPr>
            <a:r>
              <a:rPr lang="en-US" sz="1050" dirty="0">
                <a:solidFill>
                  <a:srgbClr val="5B6678"/>
                </a:solidFill>
              </a:rPr>
              <a:t>• Learning depends on 3D visualization.</a:t>
            </a:r>
            <a:endParaRPr lang="en-US" sz="1050" dirty="0"/>
          </a:p>
          <a:p>
            <a:pPr>
              <a:buSzPct val="100000"/>
            </a:pPr>
            <a:r>
              <a:rPr lang="en-US" sz="1050" dirty="0">
                <a:solidFill>
                  <a:srgbClr val="5B6678"/>
                </a:solidFill>
              </a:rPr>
              <a:t>• Students often lack 1:1 support outside class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361188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109728" cy="1965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77824" y="3776472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3"/>
                </a:solidFill>
              </a:rPr>
              <a:t>What goes wrong with normal chatbots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7824" y="4087368"/>
            <a:ext cx="3227832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>
              <a:buSzPct val="100000"/>
            </a:pPr>
            <a:r>
              <a:rPr lang="en-US" sz="1050" dirty="0">
                <a:solidFill>
                  <a:srgbClr val="5B6678"/>
                </a:solidFill>
              </a:rPr>
              <a:t>• They often answer too directly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5B6678"/>
                </a:solidFill>
              </a:rPr>
              <a:t>• That reduces guided recall and clinical reasoning practice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5B6678"/>
                </a:solidFill>
              </a:rPr>
              <a:t>• Answers may be ungrounded or overly generic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26280" y="1325880"/>
            <a:ext cx="6976872" cy="4251960"/>
          </a:xfrm>
          <a:prstGeom prst="roundRect">
            <a:avLst>
              <a:gd name="adj" fmla="val 3011"/>
            </a:avLst>
          </a:prstGeom>
          <a:solidFill>
            <a:srgbClr val="F5F8FC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572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3"/>
                </a:solidFill>
              </a:rPr>
              <a:t>From QA bot to tutor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28032" y="1874520"/>
            <a:ext cx="2834640" cy="411480"/>
          </a:xfrm>
          <a:prstGeom prst="roundRect">
            <a:avLst>
              <a:gd name="adj" fmla="val 31111"/>
            </a:avLst>
          </a:prstGeom>
          <a:solidFill>
            <a:srgbClr val="EAF1FA"/>
          </a:solidFill>
          <a:ln w="12700">
            <a:solidFill>
              <a:srgbClr val="D4E3F5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28032" y="1975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33"/>
                </a:solidFill>
              </a:rPr>
              <a:t>Standard QA bot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74152" y="1874520"/>
            <a:ext cx="2834640" cy="411480"/>
          </a:xfrm>
          <a:prstGeom prst="roundRect">
            <a:avLst>
              <a:gd name="adj" fmla="val 31111"/>
            </a:avLst>
          </a:prstGeom>
          <a:solidFill>
            <a:srgbClr val="EAF8F5"/>
          </a:solidFill>
          <a:ln w="12700">
            <a:solidFill>
              <a:srgbClr val="D2EEE7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74152" y="19751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033"/>
                </a:solidFill>
              </a:rPr>
              <a:t>Socratic-OT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28032" y="2395728"/>
            <a:ext cx="28346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74152" y="2395728"/>
            <a:ext cx="28346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92624" y="2551176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B6678"/>
                </a:solidFill>
              </a:rPr>
              <a:t>Direct answer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8238744" y="2551176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22033"/>
                </a:solidFill>
              </a:rPr>
              <a:t>Staged hinting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4828032" y="3108960"/>
            <a:ext cx="28346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74152" y="3108960"/>
            <a:ext cx="28346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92624" y="3264408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B6678"/>
                </a:solidFill>
              </a:rPr>
              <a:t>Generic response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8238744" y="3264408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22033"/>
                </a:solidFill>
              </a:rPr>
              <a:t>Grounded retrieval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4828032" y="3822192"/>
            <a:ext cx="28346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074152" y="3822192"/>
            <a:ext cx="28346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92624" y="3977640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B6678"/>
                </a:solidFill>
              </a:rPr>
              <a:t>No short-term memory</a:t>
            </a:r>
            <a:endParaRPr lang="en-US" sz="1130" dirty="0"/>
          </a:p>
        </p:txBody>
      </p:sp>
      <p:sp>
        <p:nvSpPr>
          <p:cNvPr id="31" name="Text 29"/>
          <p:cNvSpPr/>
          <p:nvPr/>
        </p:nvSpPr>
        <p:spPr>
          <a:xfrm>
            <a:off x="8238744" y="3977640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22033"/>
                </a:solidFill>
              </a:rPr>
              <a:t>Session memory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4828032" y="4535424"/>
            <a:ext cx="28346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074152" y="4535424"/>
            <a:ext cx="28346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92624" y="4690872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5B6678"/>
                </a:solidFill>
              </a:rPr>
              <a:t>No mastery check</a:t>
            </a: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8238744" y="4690872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22033"/>
                </a:solidFill>
              </a:rPr>
              <a:t>Assessment summary</a:t>
            </a:r>
            <a:endParaRPr lang="en-US" sz="1130" dirty="0"/>
          </a:p>
        </p:txBody>
      </p:sp>
      <p:sp>
        <p:nvSpPr>
          <p:cNvPr id="36" name="Shape 34"/>
          <p:cNvSpPr/>
          <p:nvPr/>
        </p:nvSpPr>
        <p:spPr>
          <a:xfrm>
            <a:off x="8065008" y="5074920"/>
            <a:ext cx="2606040" cy="310896"/>
          </a:xfrm>
          <a:prstGeom prst="roundRect">
            <a:avLst>
              <a:gd name="adj" fmla="val 35294"/>
            </a:avLst>
          </a:prstGeom>
          <a:solidFill>
            <a:srgbClr val="3EC7D3"/>
          </a:solidFill>
          <a:ln w="12700">
            <a:solidFill>
              <a:srgbClr val="3EC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065008" y="51114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Goal: preserve reasoning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384280" y="647395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698"/>
                </a:solidFill>
              </a:rPr>
              <a:t>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645566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5A5"/>
                </a:solidFill>
              </a:rPr>
              <a:t>Socratic-OT | Project 3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910BBE-2D0B-C0B4-F870-49648CE2F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D452BD-C094-0B78-7521-2682675C3957}"/>
              </a:ext>
            </a:extLst>
          </p:cNvPr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EC7D3"/>
          </a:solidFill>
          <a:ln w="12700">
            <a:solidFill>
              <a:srgbClr val="3EC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89C103-6608-6166-130B-02C1FA8453A1}"/>
              </a:ext>
            </a:extLst>
          </p:cNvPr>
          <p:cNvSpPr/>
          <p:nvPr/>
        </p:nvSpPr>
        <p:spPr>
          <a:xfrm>
            <a:off x="54864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EC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71D2786-41F9-8D71-C006-58E7357FB9A2}"/>
              </a:ext>
            </a:extLst>
          </p:cNvPr>
          <p:cNvSpPr/>
          <p:nvPr/>
        </p:nvSpPr>
        <p:spPr>
          <a:xfrm>
            <a:off x="548640" y="603504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“Socratic” means in this project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C6560A5-450D-36CB-1C39-FA83F90F5C7C}"/>
              </a:ext>
            </a:extLst>
          </p:cNvPr>
          <p:cNvSpPr/>
          <p:nvPr/>
        </p:nvSpPr>
        <p:spPr>
          <a:xfrm>
            <a:off x="548640" y="1060704"/>
            <a:ext cx="11064240" cy="0"/>
          </a:xfrm>
          <a:prstGeom prst="line">
            <a:avLst/>
          </a:prstGeom>
          <a:noFill/>
          <a:ln w="1524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B75D11C-0EEF-EBE1-5C69-C5AE1BED77E6}"/>
              </a:ext>
            </a:extLst>
          </p:cNvPr>
          <p:cNvSpPr/>
          <p:nvPr/>
        </p:nvSpPr>
        <p:spPr>
          <a:xfrm>
            <a:off x="658368" y="1417320"/>
            <a:ext cx="10972800" cy="1005840"/>
          </a:xfrm>
          <a:prstGeom prst="roundRect">
            <a:avLst>
              <a:gd name="adj" fmla="val 12727"/>
            </a:avLst>
          </a:prstGeom>
          <a:solidFill>
            <a:srgbClr val="EFF6FF"/>
          </a:solidFill>
          <a:ln w="12700">
            <a:solidFill>
              <a:srgbClr val="D6E7FA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78B06C1-B766-C08C-65C4-A6D42F7CB492}"/>
              </a:ext>
            </a:extLst>
          </p:cNvPr>
          <p:cNvSpPr/>
          <p:nvPr/>
        </p:nvSpPr>
        <p:spPr>
          <a:xfrm>
            <a:off x="960120" y="171907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2033"/>
                </a:solidFill>
              </a:rPr>
              <a:t>Constraint: no direct definition or final answer in the first two tutor turns.</a:t>
            </a:r>
            <a:endParaRPr lang="en-US" sz="1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6EF7F1E-3DDE-AC99-8FA9-D1356D9A980A}"/>
              </a:ext>
            </a:extLst>
          </p:cNvPr>
          <p:cNvSpPr/>
          <p:nvPr/>
        </p:nvSpPr>
        <p:spPr>
          <a:xfrm>
            <a:off x="9125712" y="1682496"/>
            <a:ext cx="1645920" cy="347472"/>
          </a:xfrm>
          <a:prstGeom prst="roundRect">
            <a:avLst>
              <a:gd name="adj" fmla="val 3157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3C70DD3-D754-5B9C-3EAF-51349253F647}"/>
              </a:ext>
            </a:extLst>
          </p:cNvPr>
          <p:cNvSpPr/>
          <p:nvPr/>
        </p:nvSpPr>
        <p:spPr>
          <a:xfrm>
            <a:off x="9125712" y="171907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Leakage = fail</a:t>
            </a:r>
            <a:endParaRPr lang="en-US" sz="100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B9648EC-EFAE-0488-0D85-9798C2F4C2A9}"/>
              </a:ext>
            </a:extLst>
          </p:cNvPr>
          <p:cNvGrpSpPr/>
          <p:nvPr/>
        </p:nvGrpSpPr>
        <p:grpSpPr>
          <a:xfrm>
            <a:off x="7360920" y="2743200"/>
            <a:ext cx="2651760" cy="2103120"/>
            <a:chOff x="7360920" y="2743200"/>
            <a:chExt cx="2651760" cy="2103120"/>
          </a:xfrm>
        </p:grpSpPr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317C28D9-B5D3-45A7-DC66-3D07F5836260}"/>
                </a:ext>
              </a:extLst>
            </p:cNvPr>
            <p:cNvSpPr/>
            <p:nvPr/>
          </p:nvSpPr>
          <p:spPr>
            <a:xfrm>
              <a:off x="7360920" y="2743200"/>
              <a:ext cx="2651760" cy="2103120"/>
            </a:xfrm>
            <a:prstGeom prst="roundRect">
              <a:avLst>
                <a:gd name="adj" fmla="val 6087"/>
              </a:avLst>
            </a:prstGeom>
            <a:solidFill>
              <a:srgbClr val="FFFFFF"/>
            </a:solidFill>
            <a:ln w="12700">
              <a:solidFill>
                <a:srgbClr val="D8E1EC"/>
              </a:solidFill>
              <a:prstDash val="solid"/>
            </a:ln>
            <a:effectLst>
              <a:outerShdw blurRad="15240" dist="7620" dir="27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BB2FA41A-4EC8-07DC-0CD9-9DF1CBF9D0A6}"/>
                </a:ext>
              </a:extLst>
            </p:cNvPr>
            <p:cNvSpPr/>
            <p:nvPr/>
          </p:nvSpPr>
          <p:spPr>
            <a:xfrm>
              <a:off x="8439912" y="2907792"/>
              <a:ext cx="493776" cy="493776"/>
            </a:xfrm>
            <a:prstGeom prst="ellipse">
              <a:avLst/>
            </a:prstGeom>
            <a:solidFill>
              <a:srgbClr val="8B5CF6"/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F876F78D-5D5B-FD2E-744A-A983AE8C6B6F}"/>
                </a:ext>
              </a:extLst>
            </p:cNvPr>
            <p:cNvSpPr/>
            <p:nvPr/>
          </p:nvSpPr>
          <p:spPr>
            <a:xfrm>
              <a:off x="8439912" y="2926080"/>
              <a:ext cx="493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3</a:t>
              </a:r>
              <a:endParaRPr lang="en-US" sz="1300" dirty="0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CBE090FA-863D-624E-017B-71C95E60E932}"/>
                </a:ext>
              </a:extLst>
            </p:cNvPr>
            <p:cNvSpPr/>
            <p:nvPr/>
          </p:nvSpPr>
          <p:spPr>
            <a:xfrm>
              <a:off x="7360920" y="3493008"/>
              <a:ext cx="26517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22033"/>
                  </a:solidFill>
                </a:rPr>
                <a:t>Turn 3+</a:t>
              </a:r>
              <a:endParaRPr lang="en-US" sz="1800" dirty="0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193093A4-6AB9-AFA1-AF3D-3F5C818114F6}"/>
                </a:ext>
              </a:extLst>
            </p:cNvPr>
            <p:cNvSpPr/>
            <p:nvPr/>
          </p:nvSpPr>
          <p:spPr>
            <a:xfrm>
              <a:off x="7360920" y="3749040"/>
              <a:ext cx="2651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8B5CF6"/>
                  </a:solidFill>
                </a:rPr>
                <a:t>Answer if still stuck</a:t>
              </a:r>
              <a:endParaRPr lang="en-US" sz="1150" dirty="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151B1811-1528-E819-AD8F-1F827E3457FA}"/>
                </a:ext>
              </a:extLst>
            </p:cNvPr>
            <p:cNvSpPr/>
            <p:nvPr/>
          </p:nvSpPr>
          <p:spPr>
            <a:xfrm>
              <a:off x="7543800" y="4078224"/>
              <a:ext cx="22860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5B6678"/>
                  </a:solidFill>
                </a:rPr>
                <a:t>Reveal the answer and explain with textbook support</a:t>
              </a:r>
              <a:endParaRPr lang="en-US" sz="102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18C7982-C7C4-FFFF-B4A4-9CFA6E224ED5}"/>
              </a:ext>
            </a:extLst>
          </p:cNvPr>
          <p:cNvGrpSpPr/>
          <p:nvPr/>
        </p:nvGrpSpPr>
        <p:grpSpPr>
          <a:xfrm>
            <a:off x="960120" y="2743200"/>
            <a:ext cx="3035808" cy="2103120"/>
            <a:chOff x="960120" y="2743200"/>
            <a:chExt cx="3035808" cy="2103120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667CB5CE-41E1-22F8-48FE-30966D571ACF}"/>
                </a:ext>
              </a:extLst>
            </p:cNvPr>
            <p:cNvSpPr/>
            <p:nvPr/>
          </p:nvSpPr>
          <p:spPr>
            <a:xfrm>
              <a:off x="960120" y="2743200"/>
              <a:ext cx="2651760" cy="2103120"/>
            </a:xfrm>
            <a:prstGeom prst="roundRect">
              <a:avLst>
                <a:gd name="adj" fmla="val 6087"/>
              </a:avLst>
            </a:prstGeom>
            <a:solidFill>
              <a:srgbClr val="FFFFFF"/>
            </a:solidFill>
            <a:ln w="12700">
              <a:solidFill>
                <a:srgbClr val="D8E1EC"/>
              </a:solidFill>
              <a:prstDash val="solid"/>
            </a:ln>
            <a:effectLst>
              <a:outerShdw blurRad="15240" dist="7620" dir="27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A6DF5831-88A6-8D8B-200C-A04B07E37805}"/>
                </a:ext>
              </a:extLst>
            </p:cNvPr>
            <p:cNvSpPr/>
            <p:nvPr/>
          </p:nvSpPr>
          <p:spPr>
            <a:xfrm>
              <a:off x="2039112" y="2907792"/>
              <a:ext cx="493776" cy="493776"/>
            </a:xfrm>
            <a:prstGeom prst="ellipse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4E920515-638C-6958-E3A9-2E724F1EA453}"/>
                </a:ext>
              </a:extLst>
            </p:cNvPr>
            <p:cNvSpPr/>
            <p:nvPr/>
          </p:nvSpPr>
          <p:spPr>
            <a:xfrm>
              <a:off x="2039112" y="2926080"/>
              <a:ext cx="493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1</a:t>
              </a:r>
              <a:endParaRPr lang="en-US" sz="13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7892E0D6-F1C3-765B-7ED8-94145EFC6029}"/>
                </a:ext>
              </a:extLst>
            </p:cNvPr>
            <p:cNvSpPr/>
            <p:nvPr/>
          </p:nvSpPr>
          <p:spPr>
            <a:xfrm>
              <a:off x="960120" y="3493008"/>
              <a:ext cx="26517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22033"/>
                  </a:solidFill>
                </a:rPr>
                <a:t>Turn 1</a:t>
              </a:r>
              <a:endParaRPr lang="en-US" sz="18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E879A429-F16F-5D64-F236-C48053D10841}"/>
                </a:ext>
              </a:extLst>
            </p:cNvPr>
            <p:cNvSpPr/>
            <p:nvPr/>
          </p:nvSpPr>
          <p:spPr>
            <a:xfrm>
              <a:off x="960120" y="3749040"/>
              <a:ext cx="2651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3B82F6"/>
                  </a:solidFill>
                </a:rPr>
                <a:t>Broad hint</a:t>
              </a:r>
              <a:endParaRPr lang="en-US" sz="115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C584406B-BE4F-2134-1CF5-890B381C81BB}"/>
                </a:ext>
              </a:extLst>
            </p:cNvPr>
            <p:cNvSpPr/>
            <p:nvPr/>
          </p:nvSpPr>
          <p:spPr>
            <a:xfrm>
              <a:off x="1143000" y="4078224"/>
              <a:ext cx="22860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5B6678"/>
                  </a:solidFill>
                </a:rPr>
                <a:t>Guide recall with location, relation, or concept cues</a:t>
              </a:r>
              <a:endParaRPr lang="en-US" sz="1020" dirty="0"/>
            </a:p>
          </p:txBody>
        </p:sp>
        <p:sp>
          <p:nvSpPr>
            <p:cNvPr id="28" name="Shape 26">
              <a:extLst>
                <a:ext uri="{FF2B5EF4-FFF2-40B4-BE49-F238E27FC236}">
                  <a16:creationId xmlns:a16="http://schemas.microsoft.com/office/drawing/2014/main" id="{A2E0C765-1F38-E12A-34F4-6AA27C54A634}"/>
                </a:ext>
              </a:extLst>
            </p:cNvPr>
            <p:cNvSpPr/>
            <p:nvPr/>
          </p:nvSpPr>
          <p:spPr>
            <a:xfrm>
              <a:off x="3666744" y="3712464"/>
              <a:ext cx="329184" cy="292608"/>
            </a:xfrm>
            <a:prstGeom prst="chevron">
              <a:avLst/>
            </a:prstGeom>
            <a:solidFill>
              <a:srgbClr val="D8E1EC"/>
            </a:solidFill>
            <a:ln w="12700">
              <a:solidFill>
                <a:srgbClr val="D8E1E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CB98535-2028-D2DD-13B5-D04956816D57}"/>
              </a:ext>
            </a:extLst>
          </p:cNvPr>
          <p:cNvGrpSpPr/>
          <p:nvPr/>
        </p:nvGrpSpPr>
        <p:grpSpPr>
          <a:xfrm>
            <a:off x="4160520" y="2743200"/>
            <a:ext cx="3035808" cy="2103120"/>
            <a:chOff x="4160520" y="2743200"/>
            <a:chExt cx="3035808" cy="2103120"/>
          </a:xfrm>
        </p:grpSpPr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604D6407-457A-F672-D22A-BFC7DC8B017B}"/>
                </a:ext>
              </a:extLst>
            </p:cNvPr>
            <p:cNvSpPr/>
            <p:nvPr/>
          </p:nvSpPr>
          <p:spPr>
            <a:xfrm>
              <a:off x="4160520" y="2743200"/>
              <a:ext cx="2651760" cy="2103120"/>
            </a:xfrm>
            <a:prstGeom prst="roundRect">
              <a:avLst>
                <a:gd name="adj" fmla="val 6087"/>
              </a:avLst>
            </a:prstGeom>
            <a:solidFill>
              <a:srgbClr val="FFFFFF"/>
            </a:solidFill>
            <a:ln w="12700">
              <a:solidFill>
                <a:srgbClr val="D8E1EC"/>
              </a:solidFill>
              <a:prstDash val="solid"/>
            </a:ln>
            <a:effectLst>
              <a:outerShdw blurRad="15240" dist="7620" dir="27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2D44D867-45E9-E373-3EA2-2A43D6DECC5B}"/>
                </a:ext>
              </a:extLst>
            </p:cNvPr>
            <p:cNvSpPr/>
            <p:nvPr/>
          </p:nvSpPr>
          <p:spPr>
            <a:xfrm>
              <a:off x="5239512" y="2907792"/>
              <a:ext cx="493776" cy="493776"/>
            </a:xfrm>
            <a:prstGeom prst="ellipse">
              <a:avLst/>
            </a:prstGeom>
            <a:solidFill>
              <a:srgbClr val="14B8A6"/>
            </a:solidFill>
            <a:ln w="12700">
              <a:solidFill>
                <a:srgbClr val="14B8A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033A3C8B-E7DB-1F2E-AF82-EE40ABDA1DFF}"/>
                </a:ext>
              </a:extLst>
            </p:cNvPr>
            <p:cNvSpPr/>
            <p:nvPr/>
          </p:nvSpPr>
          <p:spPr>
            <a:xfrm>
              <a:off x="5239512" y="2926080"/>
              <a:ext cx="49377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2</a:t>
              </a:r>
              <a:endParaRPr lang="en-US" sz="1300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D33F7A18-49FC-D22C-C602-16331AF9CC72}"/>
                </a:ext>
              </a:extLst>
            </p:cNvPr>
            <p:cNvSpPr/>
            <p:nvPr/>
          </p:nvSpPr>
          <p:spPr>
            <a:xfrm>
              <a:off x="4160520" y="3493008"/>
              <a:ext cx="26517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122033"/>
                  </a:solidFill>
                </a:rPr>
                <a:t>Turn 2</a:t>
              </a:r>
              <a:endParaRPr lang="en-US" sz="1800" dirty="0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CFC5C2CA-FD4E-46FC-9A98-B8359384C7C5}"/>
                </a:ext>
              </a:extLst>
            </p:cNvPr>
            <p:cNvSpPr/>
            <p:nvPr/>
          </p:nvSpPr>
          <p:spPr>
            <a:xfrm>
              <a:off x="4160520" y="3749040"/>
              <a:ext cx="2651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14B8A6"/>
                  </a:solidFill>
                </a:rPr>
                <a:t>Stronger clue</a:t>
              </a:r>
              <a:endParaRPr lang="en-US" sz="1150" dirty="0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9644D353-8958-996A-74B3-6FB1C71ACB59}"/>
                </a:ext>
              </a:extLst>
            </p:cNvPr>
            <p:cNvSpPr/>
            <p:nvPr/>
          </p:nvSpPr>
          <p:spPr>
            <a:xfrm>
              <a:off x="4343400" y="4078224"/>
              <a:ext cx="228600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20" dirty="0">
                  <a:solidFill>
                    <a:srgbClr val="5B6678"/>
                  </a:solidFill>
                </a:rPr>
                <a:t>Add function, insertion, pathway, or contrast clues</a:t>
              </a:r>
              <a:endParaRPr lang="en-US" sz="1020" dirty="0"/>
            </a:p>
          </p:txBody>
        </p:sp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D63999E7-6B6A-24FE-742D-04E334C305D6}"/>
                </a:ext>
              </a:extLst>
            </p:cNvPr>
            <p:cNvSpPr/>
            <p:nvPr/>
          </p:nvSpPr>
          <p:spPr>
            <a:xfrm>
              <a:off x="6867144" y="3712464"/>
              <a:ext cx="329184" cy="292608"/>
            </a:xfrm>
            <a:prstGeom prst="chevron">
              <a:avLst/>
            </a:prstGeom>
            <a:solidFill>
              <a:srgbClr val="D8E1EC"/>
            </a:solidFill>
            <a:ln w="12700">
              <a:solidFill>
                <a:srgbClr val="D8E1E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Shape 28">
            <a:extLst>
              <a:ext uri="{FF2B5EF4-FFF2-40B4-BE49-F238E27FC236}">
                <a16:creationId xmlns:a16="http://schemas.microsoft.com/office/drawing/2014/main" id="{B902A9B0-B5B9-F994-20D4-AF0E9DEA7EC0}"/>
              </a:ext>
            </a:extLst>
          </p:cNvPr>
          <p:cNvSpPr/>
          <p:nvPr/>
        </p:nvSpPr>
        <p:spPr>
          <a:xfrm>
            <a:off x="786384" y="5212080"/>
            <a:ext cx="507492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E17EEA93-50A6-B5B7-7C0B-BDD877CE15B8}"/>
              </a:ext>
            </a:extLst>
          </p:cNvPr>
          <p:cNvSpPr/>
          <p:nvPr/>
        </p:nvSpPr>
        <p:spPr>
          <a:xfrm>
            <a:off x="786384" y="5212080"/>
            <a:ext cx="10972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D35165D-1B37-CE93-B2E1-C51682519C1C}"/>
              </a:ext>
            </a:extLst>
          </p:cNvPr>
          <p:cNvSpPr/>
          <p:nvPr/>
        </p:nvSpPr>
        <p:spPr>
          <a:xfrm>
            <a:off x="1024128" y="5376672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3"/>
                </a:solidFill>
              </a:rPr>
              <a:t>Adaptive conversation strategy</a:t>
            </a:r>
            <a:endParaRPr lang="en-US" sz="15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1A4BADC-74A6-5E85-1F36-906C7F2C6CFA}"/>
              </a:ext>
            </a:extLst>
          </p:cNvPr>
          <p:cNvSpPr/>
          <p:nvPr/>
        </p:nvSpPr>
        <p:spPr>
          <a:xfrm>
            <a:off x="1024128" y="5687568"/>
            <a:ext cx="4690872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5B6678"/>
                </a:solidFill>
              </a:rPr>
              <a:t>• Start with context-aware rapport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5B6678"/>
                </a:solidFill>
              </a:rPr>
              <a:t>• Then pivot into the tutoring loop using dialogue-state control</a:t>
            </a:r>
            <a:endParaRPr lang="en-US" sz="105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9C00BD93-4B18-6E01-5E93-5EDD1D2DE37B}"/>
              </a:ext>
            </a:extLst>
          </p:cNvPr>
          <p:cNvSpPr/>
          <p:nvPr/>
        </p:nvSpPr>
        <p:spPr>
          <a:xfrm>
            <a:off x="6199632" y="5212080"/>
            <a:ext cx="507492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B23DAF6-4EF1-893E-A9FE-8A0D3DE7FD1D}"/>
              </a:ext>
            </a:extLst>
          </p:cNvPr>
          <p:cNvSpPr/>
          <p:nvPr/>
        </p:nvSpPr>
        <p:spPr>
          <a:xfrm>
            <a:off x="6199632" y="5212080"/>
            <a:ext cx="109728" cy="868680"/>
          </a:xfrm>
          <a:prstGeom prst="rect">
            <a:avLst/>
          </a:prstGeom>
          <a:solidFill>
            <a:srgbClr val="3EC7D3"/>
          </a:solidFill>
          <a:ln w="12700">
            <a:solidFill>
              <a:srgbClr val="3EC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2B7E70D-EA14-A33F-2E8E-7F473A7B1CA7}"/>
              </a:ext>
            </a:extLst>
          </p:cNvPr>
          <p:cNvSpPr/>
          <p:nvPr/>
        </p:nvSpPr>
        <p:spPr>
          <a:xfrm>
            <a:off x="6437376" y="5376672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3"/>
                </a:solidFill>
              </a:rPr>
              <a:t>What the manager agent enforces</a:t>
            </a:r>
            <a:endParaRPr lang="en-US" sz="15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DB3C644C-0591-3E58-3499-C73C7BB4F00D}"/>
              </a:ext>
            </a:extLst>
          </p:cNvPr>
          <p:cNvSpPr/>
          <p:nvPr/>
        </p:nvSpPr>
        <p:spPr>
          <a:xfrm>
            <a:off x="6437376" y="5687568"/>
            <a:ext cx="4690872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5B6678"/>
                </a:solidFill>
              </a:rPr>
              <a:t>• Smooth social → pedagogical transition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5B6678"/>
                </a:solidFill>
              </a:rPr>
              <a:t>• No answer leakage before the 3rd turn</a:t>
            </a:r>
            <a:endParaRPr lang="en-US" sz="105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479570C2-08E6-C00D-E029-4B3CFA04918A}"/>
              </a:ext>
            </a:extLst>
          </p:cNvPr>
          <p:cNvSpPr/>
          <p:nvPr/>
        </p:nvSpPr>
        <p:spPr>
          <a:xfrm>
            <a:off x="11384280" y="647395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698"/>
                </a:solidFill>
              </a:rPr>
              <a:t>3</a:t>
            </a:r>
            <a:endParaRPr lang="en-US" sz="9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7BB5B1A-8089-FA0C-72C0-D6C5687E53C0}"/>
              </a:ext>
            </a:extLst>
          </p:cNvPr>
          <p:cNvSpPr/>
          <p:nvPr/>
        </p:nvSpPr>
        <p:spPr>
          <a:xfrm>
            <a:off x="548640" y="645566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5A5"/>
                </a:solidFill>
              </a:rPr>
              <a:t>Socratic-OT | Project 3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303077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8E2FF8-0D52-049F-1109-D09365234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D4A7A8-415F-6A2A-C606-5D21734B7E56}"/>
              </a:ext>
            </a:extLst>
          </p:cNvPr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EC7D3"/>
          </a:solidFill>
          <a:ln w="12700">
            <a:solidFill>
              <a:srgbClr val="3EC7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40D7086-9FA3-205B-088C-C332BCE3EB90}"/>
              </a:ext>
            </a:extLst>
          </p:cNvPr>
          <p:cNvSpPr/>
          <p:nvPr/>
        </p:nvSpPr>
        <p:spPr>
          <a:xfrm>
            <a:off x="54864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EC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8CE22C-B79D-1867-95F3-F7512D79478A}"/>
              </a:ext>
            </a:extLst>
          </p:cNvPr>
          <p:cNvSpPr/>
          <p:nvPr/>
        </p:nvSpPr>
        <p:spPr>
          <a:xfrm>
            <a:off x="548640" y="603504"/>
            <a:ext cx="7466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>
                <a:solidFill>
                  <a:srgbClr val="222D3A"/>
                </a:solidFill>
              </a:rPr>
              <a:t>Knowledge base construction: text + image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D42D20B-E17B-F967-F696-027D7206A73E}"/>
              </a:ext>
            </a:extLst>
          </p:cNvPr>
          <p:cNvSpPr/>
          <p:nvPr/>
        </p:nvSpPr>
        <p:spPr>
          <a:xfrm>
            <a:off x="548640" y="1060704"/>
            <a:ext cx="11064240" cy="0"/>
          </a:xfrm>
          <a:prstGeom prst="line">
            <a:avLst/>
          </a:prstGeom>
          <a:noFill/>
          <a:ln w="15240">
            <a:solidFill>
              <a:srgbClr val="D8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29102AC-CAD7-01E2-8D61-4D192BC807AE}"/>
              </a:ext>
            </a:extLst>
          </p:cNvPr>
          <p:cNvSpPr/>
          <p:nvPr/>
        </p:nvSpPr>
        <p:spPr>
          <a:xfrm>
            <a:off x="713232" y="1325880"/>
            <a:ext cx="150876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0DF04B6-2EBD-BE5A-3873-0C238B05D549}"/>
              </a:ext>
            </a:extLst>
          </p:cNvPr>
          <p:cNvSpPr/>
          <p:nvPr/>
        </p:nvSpPr>
        <p:spPr>
          <a:xfrm>
            <a:off x="713232" y="145389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</a:rPr>
              <a:t>70</a:t>
            </a:r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E5B2327-F424-92E9-3731-329BE796301B}"/>
              </a:ext>
            </a:extLst>
          </p:cNvPr>
          <p:cNvSpPr/>
          <p:nvPr/>
        </p:nvSpPr>
        <p:spPr>
          <a:xfrm>
            <a:off x="804672" y="18928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8"/>
                </a:solidFill>
              </a:rPr>
              <a:t>Relevant sections</a:t>
            </a: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1EEB695-6DFA-A9BA-5EF0-E4414F04BD34}"/>
              </a:ext>
            </a:extLst>
          </p:cNvPr>
          <p:cNvSpPr/>
          <p:nvPr/>
        </p:nvSpPr>
        <p:spPr>
          <a:xfrm>
            <a:off x="2395728" y="1325880"/>
            <a:ext cx="150876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263BD67-2CA0-95F7-3314-BA992DB036ED}"/>
              </a:ext>
            </a:extLst>
          </p:cNvPr>
          <p:cNvSpPr/>
          <p:nvPr/>
        </p:nvSpPr>
        <p:spPr>
          <a:xfrm>
            <a:off x="2395728" y="145389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</a:rPr>
              <a:t>168</a:t>
            </a:r>
            <a:endParaRPr lang="en-US" sz="2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C5C869B-D513-64CD-052B-02BEEF0A779B}"/>
              </a:ext>
            </a:extLst>
          </p:cNvPr>
          <p:cNvSpPr/>
          <p:nvPr/>
        </p:nvSpPr>
        <p:spPr>
          <a:xfrm>
            <a:off x="2487168" y="18928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8"/>
                </a:solidFill>
              </a:rPr>
              <a:t>Retrieval-ready chunks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24FF37F-8D87-B0ED-2B23-6A5ED7D99CCD}"/>
              </a:ext>
            </a:extLst>
          </p:cNvPr>
          <p:cNvSpPr/>
          <p:nvPr/>
        </p:nvSpPr>
        <p:spPr>
          <a:xfrm>
            <a:off x="4078224" y="1325880"/>
            <a:ext cx="150876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6F5B3D6-F86E-D737-7089-A982A2CD85AB}"/>
              </a:ext>
            </a:extLst>
          </p:cNvPr>
          <p:cNvSpPr/>
          <p:nvPr/>
        </p:nvSpPr>
        <p:spPr>
          <a:xfrm>
            <a:off x="4078224" y="145389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</a:rPr>
              <a:t>6</a:t>
            </a:r>
            <a:endParaRPr lang="en-US" sz="2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C64990C-F5A5-618C-6254-A859A939810E}"/>
              </a:ext>
            </a:extLst>
          </p:cNvPr>
          <p:cNvSpPr/>
          <p:nvPr/>
        </p:nvSpPr>
        <p:spPr>
          <a:xfrm>
            <a:off x="4169664" y="18928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8"/>
                </a:solidFill>
              </a:rPr>
              <a:t>Labeled diagrams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B269608-5688-CB68-0C2C-F73462E809A6}"/>
              </a:ext>
            </a:extLst>
          </p:cNvPr>
          <p:cNvSpPr/>
          <p:nvPr/>
        </p:nvSpPr>
        <p:spPr>
          <a:xfrm>
            <a:off x="5760720" y="1325880"/>
            <a:ext cx="150876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B018E4D-34B4-2662-4C44-F8A62D682C02}"/>
              </a:ext>
            </a:extLst>
          </p:cNvPr>
          <p:cNvSpPr/>
          <p:nvPr/>
        </p:nvSpPr>
        <p:spPr>
          <a:xfrm>
            <a:off x="5760720" y="145389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</a:rPr>
              <a:t>6</a:t>
            </a:r>
            <a:endParaRPr lang="en-US" sz="2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458EA83-8B1D-8AB8-39B6-2DC499B6EC7B}"/>
              </a:ext>
            </a:extLst>
          </p:cNvPr>
          <p:cNvSpPr/>
          <p:nvPr/>
        </p:nvSpPr>
        <p:spPr>
          <a:xfrm>
            <a:off x="5852160" y="18928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678"/>
                </a:solidFill>
              </a:rPr>
              <a:t>Metadata records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60525D0-B144-9924-DBED-B0ECC325FD58}"/>
              </a:ext>
            </a:extLst>
          </p:cNvPr>
          <p:cNvSpPr/>
          <p:nvPr/>
        </p:nvSpPr>
        <p:spPr>
          <a:xfrm>
            <a:off x="713232" y="2743199"/>
            <a:ext cx="5413248" cy="3712459"/>
          </a:xfrm>
          <a:prstGeom prst="roundRect">
            <a:avLst>
              <a:gd name="adj" fmla="val 4094"/>
            </a:avLst>
          </a:prstGeom>
          <a:solidFill>
            <a:srgbClr val="F5F8FC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C9FB3B6-C45F-BBA2-DFBA-46D75F0C0CBB}"/>
              </a:ext>
            </a:extLst>
          </p:cNvPr>
          <p:cNvSpPr/>
          <p:nvPr/>
        </p:nvSpPr>
        <p:spPr>
          <a:xfrm>
            <a:off x="969264" y="28548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 dirty="0">
                <a:solidFill>
                  <a:srgbClr val="222D3A"/>
                </a:solidFill>
              </a:rPr>
              <a:t>Text knowledge base</a:t>
            </a:r>
            <a:endParaRPr lang="en-US" sz="15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2001FEA3-6B1E-C803-5BEA-1E0A833ED107}"/>
              </a:ext>
            </a:extLst>
          </p:cNvPr>
          <p:cNvSpPr/>
          <p:nvPr/>
        </p:nvSpPr>
        <p:spPr>
          <a:xfrm>
            <a:off x="6364224" y="2743199"/>
            <a:ext cx="5074920" cy="3712461"/>
          </a:xfrm>
          <a:prstGeom prst="roundRect">
            <a:avLst>
              <a:gd name="adj" fmla="val 4094"/>
            </a:avLst>
          </a:prstGeom>
          <a:solidFill>
            <a:schemeClr val="bg1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2203D68-C356-DCD5-31D0-202A2C6BFD07}"/>
              </a:ext>
            </a:extLst>
          </p:cNvPr>
          <p:cNvSpPr/>
          <p:nvPr/>
        </p:nvSpPr>
        <p:spPr>
          <a:xfrm>
            <a:off x="6601968" y="285484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222D3A"/>
                </a:solidFill>
              </a:rPr>
              <a:t>Image knowledge base example</a:t>
            </a:r>
            <a:endParaRPr lang="en-US" sz="15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9EEBB6A2-7BA0-595F-9DA2-21F88969A748}"/>
              </a:ext>
            </a:extLst>
          </p:cNvPr>
          <p:cNvSpPr/>
          <p:nvPr/>
        </p:nvSpPr>
        <p:spPr>
          <a:xfrm>
            <a:off x="11384280" y="647395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698"/>
                </a:solidFill>
              </a:rPr>
              <a:t>4</a:t>
            </a:r>
            <a:endParaRPr lang="en-US" sz="9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C2CA2FA7-2654-8557-8DF1-143B4C2497FA}"/>
              </a:ext>
            </a:extLst>
          </p:cNvPr>
          <p:cNvSpPr/>
          <p:nvPr/>
        </p:nvSpPr>
        <p:spPr>
          <a:xfrm>
            <a:off x="548640" y="645566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5A5"/>
                </a:solidFill>
              </a:rPr>
              <a:t>Socratic-OT | Project 3</a:t>
            </a:r>
            <a:endParaRPr lang="en-US" sz="850" dirty="0"/>
          </a:p>
        </p:txBody>
      </p:sp>
      <p:sp>
        <p:nvSpPr>
          <p:cNvPr id="48" name="TextBox 47"/>
          <p:cNvSpPr txBox="1"/>
          <p:nvPr/>
        </p:nvSpPr>
        <p:spPr>
          <a:xfrm>
            <a:off x="932688" y="3055536"/>
            <a:ext cx="5084064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0C2440"/>
                </a:solidFill>
              </a:rPr>
              <a:t>Source: OpenStax Anatomy &amp; Physiology 2e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B6678"/>
                </a:solidFill>
              </a:rPr>
              <a:t>Extract full textbook text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B6678"/>
                </a:solidFill>
              </a:rPr>
              <a:t>Detect and isolate section level content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B6678"/>
                </a:solidFill>
              </a:rPr>
              <a:t>Filter the relevant topics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B6678"/>
                </a:solidFill>
              </a:rPr>
              <a:t>Clean noise and split sections into chunks</a:t>
            </a:r>
          </a:p>
          <a:p>
            <a:pPr>
              <a:buSzPct val="100000"/>
            </a:pPr>
            <a:r>
              <a:rPr lang="en-US" sz="1200" dirty="0">
                <a:solidFill>
                  <a:srgbClr val="5B6678"/>
                </a:solidFill>
              </a:rPr>
              <a:t>Metadata: 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B6678"/>
                </a:solidFill>
              </a:rPr>
              <a:t>Source id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B6678"/>
                </a:solidFill>
              </a:rPr>
              <a:t>Chapter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B6678"/>
                </a:solidFill>
              </a:rPr>
              <a:t>Section title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B6678"/>
                </a:solidFill>
              </a:rPr>
              <a:t>Topic label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B6678"/>
                </a:solidFill>
              </a:rPr>
              <a:t>Keyword summary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B6678"/>
                </a:solidFill>
              </a:rPr>
              <a:t>Chunk text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58513" y="5967198"/>
            <a:ext cx="566928" cy="256032"/>
          </a:xfrm>
          <a:prstGeom prst="rect">
            <a:avLst/>
          </a:prstGeom>
          <a:solidFill>
            <a:srgbClr val="E9F4FF"/>
          </a:solidFill>
          <a:ln>
            <a:solidFill>
              <a:srgbClr val="C2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4285F4"/>
                </a:solidFill>
              </a:rPr>
              <a:t>PDF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26025" y="5967198"/>
            <a:ext cx="822960" cy="256032"/>
          </a:xfrm>
          <a:prstGeom prst="rect">
            <a:avLst/>
          </a:prstGeom>
          <a:solidFill>
            <a:srgbClr val="E9F4FF"/>
          </a:solidFill>
          <a:ln>
            <a:solidFill>
              <a:srgbClr val="C2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 dirty="0">
                <a:solidFill>
                  <a:srgbClr val="4285F4"/>
                </a:solidFill>
              </a:rPr>
              <a:t>Sections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86145" y="5967198"/>
            <a:ext cx="1051560" cy="256032"/>
          </a:xfrm>
          <a:prstGeom prst="rect">
            <a:avLst/>
          </a:prstGeom>
          <a:solidFill>
            <a:srgbClr val="E9F4FF"/>
          </a:solidFill>
          <a:ln>
            <a:solidFill>
              <a:srgbClr val="C2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4285F4"/>
                </a:solidFill>
              </a:rPr>
              <a:t>Cleaned text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93153" y="5967198"/>
            <a:ext cx="749808" cy="256032"/>
          </a:xfrm>
          <a:prstGeom prst="rect">
            <a:avLst/>
          </a:prstGeom>
          <a:solidFill>
            <a:srgbClr val="E9F4FF"/>
          </a:solidFill>
          <a:ln>
            <a:solidFill>
              <a:srgbClr val="C2DC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 dirty="0">
                <a:solidFill>
                  <a:srgbClr val="4285F4"/>
                </a:solidFill>
              </a:rPr>
              <a:t>Chunks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25441" y="5980914"/>
            <a:ext cx="109728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5C6879"/>
                </a:solidFill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67273" y="5980914"/>
            <a:ext cx="109728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5C6879"/>
                </a:solidFill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74280" y="5980914"/>
            <a:ext cx="109728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5C6879"/>
                </a:solidFill>
              </a:rPr>
              <a:t>→</a:t>
            </a:r>
          </a:p>
        </p:txBody>
      </p:sp>
      <p:pic>
        <p:nvPicPr>
          <p:cNvPr id="56" name="Picture 55" descr="IMG001_neuron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166407"/>
            <a:ext cx="3421885" cy="220643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15100" y="5967198"/>
            <a:ext cx="4526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>
                <a:solidFill>
                  <a:srgbClr val="5C6879"/>
                </a:solidFill>
              </a:rPr>
              <a:t>Example anatomy asset linked to metadata for multimodal tutoring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667E09-1544-74CF-2FF7-98D52CAD4C8F}"/>
              </a:ext>
            </a:extLst>
          </p:cNvPr>
          <p:cNvGrpSpPr/>
          <p:nvPr/>
        </p:nvGrpSpPr>
        <p:grpSpPr>
          <a:xfrm>
            <a:off x="8484239" y="4649648"/>
            <a:ext cx="2900041" cy="1311426"/>
            <a:chOff x="6583680" y="4773168"/>
            <a:chExt cx="4297680" cy="1481328"/>
          </a:xfrm>
        </p:grpSpPr>
        <p:sp>
          <p:nvSpPr>
            <p:cNvPr id="58" name="Rectangle 57"/>
            <p:cNvSpPr/>
            <p:nvPr/>
          </p:nvSpPr>
          <p:spPr>
            <a:xfrm>
              <a:off x="6583680" y="4773168"/>
              <a:ext cx="1325881" cy="24688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DEE5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000" b="1" dirty="0">
                  <a:solidFill>
                    <a:srgbClr val="222D3A"/>
                  </a:solidFill>
                </a:rPr>
                <a:t>Image ID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7909560" y="4773168"/>
              <a:ext cx="2971800" cy="2468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EE5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69" dirty="0">
                  <a:solidFill>
                    <a:srgbClr val="222D3A"/>
                  </a:solidFill>
                </a:rPr>
                <a:t>IMG001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6583680" y="5020056"/>
              <a:ext cx="1325880" cy="24688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DEE5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000" b="1">
                  <a:solidFill>
                    <a:srgbClr val="222D3A"/>
                  </a:solidFill>
                </a:rPr>
                <a:t>Structure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7909560" y="5020056"/>
              <a:ext cx="2971800" cy="2468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EE5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69">
                  <a:solidFill>
                    <a:srgbClr val="222D3A"/>
                  </a:solidFill>
                </a:rPr>
                <a:t>Neuron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583680" y="5266944"/>
              <a:ext cx="1325880" cy="24688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DEE5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000" b="1">
                  <a:solidFill>
                    <a:srgbClr val="222D3A"/>
                  </a:solidFill>
                </a:rPr>
                <a:t>Topic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7909560" y="5266944"/>
              <a:ext cx="2971800" cy="2468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EE5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69" dirty="0">
                  <a:solidFill>
                    <a:srgbClr val="222D3A"/>
                  </a:solidFill>
                </a:rPr>
                <a:t>Nervous system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6583680" y="5513831"/>
              <a:ext cx="1325880" cy="24688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DEE5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000" b="1">
                  <a:solidFill>
                    <a:srgbClr val="222D3A"/>
                  </a:solidFill>
                </a:rPr>
                <a:t>Aliases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7909560" y="5513831"/>
              <a:ext cx="2971800" cy="2468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EE5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69">
                  <a:solidFill>
                    <a:srgbClr val="222D3A"/>
                  </a:solidFill>
                </a:rPr>
                <a:t>nerve cell; neuron structure</a:t>
              </a: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6583680" y="5760720"/>
              <a:ext cx="1325880" cy="24688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DEE5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000" b="1">
                  <a:solidFill>
                    <a:srgbClr val="222D3A"/>
                  </a:solidFill>
                </a:rPr>
                <a:t>Body region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7909560" y="5760720"/>
              <a:ext cx="2971800" cy="2468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EE5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69" dirty="0">
                  <a:solidFill>
                    <a:srgbClr val="222D3A"/>
                  </a:solidFill>
                </a:rPr>
                <a:t>nervous system</a:t>
              </a: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6583680" y="6007608"/>
              <a:ext cx="1325880" cy="24688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DEE5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1000" b="1">
                  <a:solidFill>
                    <a:srgbClr val="222D3A"/>
                  </a:solidFill>
                </a:rPr>
                <a:t>Function</a:t>
              </a: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7909560" y="6007608"/>
              <a:ext cx="2971800" cy="246888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DEE5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sz="969">
                  <a:solidFill>
                    <a:srgbClr val="222D3A"/>
                  </a:solidFill>
                </a:rPr>
                <a:t>basic neural signaling structure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8082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EC7D3"/>
          </a:solidFill>
          <a:ln w="12700">
            <a:solidFill>
              <a:srgbClr val="3EC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EC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runtime workflow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60704"/>
            <a:ext cx="11064240" cy="0"/>
          </a:xfrm>
          <a:prstGeom prst="line">
            <a:avLst/>
          </a:prstGeom>
          <a:noFill/>
          <a:ln w="1524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335024"/>
            <a:ext cx="7269480" cy="4983480"/>
          </a:xfrm>
          <a:prstGeom prst="roundRect">
            <a:avLst>
              <a:gd name="adj" fmla="val 2569"/>
            </a:avLst>
          </a:prstGeom>
          <a:solidFill>
            <a:srgbClr val="F5F8FC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data/architecture_diagram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220" y="1645920"/>
            <a:ext cx="3375201" cy="4617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183880" y="1335024"/>
            <a:ext cx="3355848" cy="4983480"/>
          </a:xfrm>
          <a:prstGeom prst="roundRect">
            <a:avLst>
              <a:gd name="adj" fmla="val 381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412480" y="164592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3"/>
                </a:solidFill>
              </a:rPr>
              <a:t>What happens at runtime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430768" y="205740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430768" y="20756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851392" y="20482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22033"/>
                </a:solidFill>
              </a:rPr>
              <a:t>Route the input</a:t>
            </a:r>
            <a:endParaRPr lang="en-US" sz="1230" dirty="0"/>
          </a:p>
        </p:txBody>
      </p:sp>
      <p:sp>
        <p:nvSpPr>
          <p:cNvPr id="15" name="Text 12"/>
          <p:cNvSpPr/>
          <p:nvPr/>
        </p:nvSpPr>
        <p:spPr>
          <a:xfrm>
            <a:off x="8851392" y="22585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5B6678"/>
                </a:solidFill>
              </a:rPr>
              <a:t>Text, image, or follow-up</a:t>
            </a:r>
            <a:endParaRPr lang="en-US" sz="1010" dirty="0"/>
          </a:p>
        </p:txBody>
      </p:sp>
      <p:sp>
        <p:nvSpPr>
          <p:cNvPr id="16" name="Shape 13"/>
          <p:cNvSpPr/>
          <p:nvPr/>
        </p:nvSpPr>
        <p:spPr>
          <a:xfrm>
            <a:off x="8430768" y="2825496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30768" y="284378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851392" y="28163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22033"/>
                </a:solidFill>
              </a:rPr>
              <a:t>Retrieve grounded context</a:t>
            </a:r>
            <a:endParaRPr lang="en-US" sz="1230" dirty="0"/>
          </a:p>
        </p:txBody>
      </p:sp>
      <p:sp>
        <p:nvSpPr>
          <p:cNvPr id="19" name="Text 16"/>
          <p:cNvSpPr/>
          <p:nvPr/>
        </p:nvSpPr>
        <p:spPr>
          <a:xfrm>
            <a:off x="8851392" y="302666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5B6678"/>
                </a:solidFill>
              </a:rPr>
              <a:t>Chunks from ChromaDB + image metadata</a:t>
            </a:r>
            <a:endParaRPr lang="en-US" sz="1010" dirty="0"/>
          </a:p>
        </p:txBody>
      </p:sp>
      <p:sp>
        <p:nvSpPr>
          <p:cNvPr id="20" name="Shape 17"/>
          <p:cNvSpPr/>
          <p:nvPr/>
        </p:nvSpPr>
        <p:spPr>
          <a:xfrm>
            <a:off x="8430768" y="359359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430768" y="361188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851392" y="35844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22033"/>
                </a:solidFill>
              </a:rPr>
              <a:t>Apply tutoring policy</a:t>
            </a:r>
            <a:endParaRPr lang="en-US" sz="1230" dirty="0"/>
          </a:p>
        </p:txBody>
      </p:sp>
      <p:sp>
        <p:nvSpPr>
          <p:cNvPr id="23" name="Text 20"/>
          <p:cNvSpPr/>
          <p:nvPr/>
        </p:nvSpPr>
        <p:spPr>
          <a:xfrm>
            <a:off x="8851392" y="37947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5B6678"/>
                </a:solidFill>
              </a:rPr>
              <a:t>Hint → clue → answer if stuck</a:t>
            </a:r>
            <a:endParaRPr lang="en-US" sz="1010" dirty="0"/>
          </a:p>
        </p:txBody>
      </p:sp>
      <p:sp>
        <p:nvSpPr>
          <p:cNvPr id="24" name="Shape 21"/>
          <p:cNvSpPr/>
          <p:nvPr/>
        </p:nvSpPr>
        <p:spPr>
          <a:xfrm>
            <a:off x="8430768" y="4361688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430768" y="437997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851392" y="435254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22033"/>
                </a:solidFill>
              </a:rPr>
              <a:t>Generate response</a:t>
            </a:r>
            <a:endParaRPr lang="en-US" sz="1230" dirty="0"/>
          </a:p>
        </p:txBody>
      </p:sp>
      <p:sp>
        <p:nvSpPr>
          <p:cNvPr id="27" name="Text 24"/>
          <p:cNvSpPr/>
          <p:nvPr/>
        </p:nvSpPr>
        <p:spPr>
          <a:xfrm>
            <a:off x="8851392" y="45628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5B6678"/>
                </a:solidFill>
              </a:rPr>
              <a:t>Tutor response stays grounded and staged</a:t>
            </a:r>
            <a:endParaRPr lang="en-US" sz="1010" dirty="0"/>
          </a:p>
        </p:txBody>
      </p:sp>
      <p:sp>
        <p:nvSpPr>
          <p:cNvPr id="28" name="Shape 25"/>
          <p:cNvSpPr/>
          <p:nvPr/>
        </p:nvSpPr>
        <p:spPr>
          <a:xfrm>
            <a:off x="8430768" y="5129784"/>
            <a:ext cx="274320" cy="274320"/>
          </a:xfrm>
          <a:prstGeom prst="ellipse">
            <a:avLst/>
          </a:prstGeom>
          <a:solidFill>
            <a:srgbClr val="3EC7D3"/>
          </a:solidFill>
          <a:ln w="12700">
            <a:solidFill>
              <a:srgbClr val="3EC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430768" y="514807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851392" y="51206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122033"/>
                </a:solidFill>
              </a:rPr>
              <a:t>Update session state</a:t>
            </a:r>
            <a:endParaRPr lang="en-US" sz="1230" dirty="0"/>
          </a:p>
        </p:txBody>
      </p:sp>
      <p:sp>
        <p:nvSpPr>
          <p:cNvPr id="31" name="Text 28"/>
          <p:cNvSpPr/>
          <p:nvPr/>
        </p:nvSpPr>
        <p:spPr>
          <a:xfrm>
            <a:off x="8851392" y="533095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5B6678"/>
                </a:solidFill>
              </a:rPr>
              <a:t>Weak topics, confusion, progress, assessment</a:t>
            </a:r>
            <a:endParaRPr lang="en-US" sz="1010" dirty="0"/>
          </a:p>
        </p:txBody>
      </p:sp>
      <p:sp>
        <p:nvSpPr>
          <p:cNvPr id="32" name="Text 29"/>
          <p:cNvSpPr/>
          <p:nvPr/>
        </p:nvSpPr>
        <p:spPr>
          <a:xfrm>
            <a:off x="11384280" y="647395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698"/>
                </a:solidFill>
              </a:rPr>
              <a:t>5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48640" y="645566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5A5"/>
                </a:solidFill>
              </a:rPr>
              <a:t>Socratic-OT | Project 3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EC7D3"/>
          </a:solidFill>
          <a:ln w="12700">
            <a:solidFill>
              <a:srgbClr val="3EC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EC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stack and component roles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60704"/>
            <a:ext cx="11064240" cy="0"/>
          </a:xfrm>
          <a:prstGeom prst="line">
            <a:avLst/>
          </a:prstGeom>
          <a:noFill/>
          <a:ln w="1524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507492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1417320"/>
            <a:ext cx="118872" cy="1170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156362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22033"/>
                </a:solidFill>
              </a:rPr>
              <a:t>Orchestration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1005840" y="181965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LangGraph / LangChain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90088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B6678"/>
                </a:solidFill>
              </a:rPr>
              <a:t>Dialogue state, tool routing, policy control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6373368" y="1417320"/>
            <a:ext cx="507492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73368" y="1417320"/>
            <a:ext cx="118872" cy="1170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29400" y="156362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22033"/>
                </a:solidFill>
              </a:rPr>
              <a:t>Embeddings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6629400" y="181965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</a:rPr>
              <a:t>all-MiniLM-L6-v2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13648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B6678"/>
                </a:solidFill>
              </a:rPr>
              <a:t>Turn chunks into retrieval vectors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749808" y="2990088"/>
            <a:ext cx="507492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9808" y="2990088"/>
            <a:ext cx="118872" cy="1170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3136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22033"/>
                </a:solidFill>
              </a:rPr>
              <a:t>Vector DB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1005840" y="339242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8B5CF6"/>
                </a:solidFill>
              </a:rPr>
              <a:t>ChromaDB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90088" y="32644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B6678"/>
                </a:solidFill>
              </a:rPr>
              <a:t>Top-5 retrieval with metadata filtering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373368" y="2990088"/>
            <a:ext cx="507492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73368" y="2990088"/>
            <a:ext cx="118872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29400" y="3136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22033"/>
                </a:solidFill>
              </a:rPr>
              <a:t>Text model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6629400" y="339242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59E0B"/>
                </a:solidFill>
              </a:rPr>
              <a:t>Groq</a:t>
            </a:r>
            <a:r>
              <a:rPr lang="en-US" sz="1100" b="1" dirty="0">
                <a:solidFill>
                  <a:srgbClr val="F59E0B"/>
                </a:solidFill>
              </a:rPr>
              <a:t> - </a:t>
            </a:r>
            <a:r>
              <a:rPr lang="en-US" sz="1100" b="1" dirty="0" err="1">
                <a:solidFill>
                  <a:srgbClr val="F59E0B"/>
                </a:solidFill>
              </a:rPr>
              <a:t>hostedLlama</a:t>
            </a:r>
            <a:r>
              <a:rPr lang="en-US" sz="1100" b="1" dirty="0">
                <a:solidFill>
                  <a:srgbClr val="F59E0B"/>
                </a:solidFill>
              </a:rPr>
              <a:t> 3 / GPT-4o-mini fallback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32520" y="326440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B6678"/>
                </a:solidFill>
              </a:rPr>
              <a:t>Hinting, clueing, final explanation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749808" y="4562856"/>
            <a:ext cx="507492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49808" y="4562856"/>
            <a:ext cx="118872" cy="1170432"/>
          </a:xfrm>
          <a:prstGeom prst="rect">
            <a:avLst/>
          </a:prstGeom>
          <a:solidFill>
            <a:srgbClr val="3EC7D3"/>
          </a:solidFill>
          <a:ln w="12700">
            <a:solidFill>
              <a:srgbClr val="3EC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05840" y="47091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22033"/>
                </a:solidFill>
              </a:rPr>
              <a:t>Vision model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1005840" y="49651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EC7D3"/>
                </a:solidFill>
              </a:rPr>
              <a:t>GPT-4o or LLaVA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990088" y="483717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B6678"/>
                </a:solidFill>
              </a:rPr>
              <a:t>Identify structures from uploaded diagrams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6373368" y="4562856"/>
            <a:ext cx="507492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373368" y="4562856"/>
            <a:ext cx="118872" cy="1170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29400" y="47091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22033"/>
                </a:solidFill>
              </a:rPr>
              <a:t>Evaluation</a:t>
            </a:r>
            <a:endParaRPr lang="en-US" sz="1240" dirty="0"/>
          </a:p>
        </p:txBody>
      </p:sp>
      <p:sp>
        <p:nvSpPr>
          <p:cNvPr id="34" name="Text 32"/>
          <p:cNvSpPr/>
          <p:nvPr/>
        </p:nvSpPr>
        <p:spPr>
          <a:xfrm>
            <a:off x="6629400" y="49651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RAGAS + transcript review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613648" y="483717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B6678"/>
                </a:solidFill>
              </a:rPr>
              <a:t>Faithfulness and Socratic purity checks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758952" y="6016752"/>
            <a:ext cx="10515600" cy="274320"/>
          </a:xfrm>
          <a:prstGeom prst="roundRect">
            <a:avLst>
              <a:gd name="adj" fmla="val 46667"/>
            </a:avLst>
          </a:prstGeom>
          <a:solidFill>
            <a:srgbClr val="EEF7FF"/>
          </a:solidFill>
          <a:ln w="12700">
            <a:solidFill>
              <a:srgbClr val="D9EAFE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14400" y="6099048"/>
            <a:ext cx="10058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B6678"/>
                </a:solidFill>
              </a:rPr>
              <a:t>Retrieval settings example: top-5 retrieval → metadata-aware rerank → optional adjacent chunk merge → final 2-3 context units in prompt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11384280" y="647395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698"/>
                </a:solidFill>
              </a:rPr>
              <a:t>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645566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5A5"/>
                </a:solidFill>
              </a:rPr>
              <a:t>Socratic-OT | Project 3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FE99BA-55AA-7309-CD34-8B27E78D3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46727A-1D8A-989C-C52E-6237747C2C8F}"/>
              </a:ext>
            </a:extLst>
          </p:cNvPr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EC7D3"/>
          </a:solidFill>
          <a:ln w="12700">
            <a:solidFill>
              <a:srgbClr val="3EC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1AD7C2-49FC-AE4B-B8BB-D633D16D821E}"/>
              </a:ext>
            </a:extLst>
          </p:cNvPr>
          <p:cNvSpPr/>
          <p:nvPr/>
        </p:nvSpPr>
        <p:spPr>
          <a:xfrm>
            <a:off x="54864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EC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3D6D3F-FB1E-DE70-619E-E6518902BA53}"/>
              </a:ext>
            </a:extLst>
          </p:cNvPr>
          <p:cNvSpPr/>
          <p:nvPr/>
        </p:nvSpPr>
        <p:spPr>
          <a:xfrm>
            <a:off x="548640" y="603504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Runtime Modules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5FAC4DF-359E-9306-B3E8-5FCC86FF4FC7}"/>
              </a:ext>
            </a:extLst>
          </p:cNvPr>
          <p:cNvSpPr/>
          <p:nvPr/>
        </p:nvSpPr>
        <p:spPr>
          <a:xfrm>
            <a:off x="548640" y="1060704"/>
            <a:ext cx="11064240" cy="0"/>
          </a:xfrm>
          <a:prstGeom prst="line">
            <a:avLst/>
          </a:prstGeom>
          <a:noFill/>
          <a:ln w="1524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04DF37B-E5ED-A5FC-D32B-D7BCCF8EFE43}"/>
              </a:ext>
            </a:extLst>
          </p:cNvPr>
          <p:cNvSpPr/>
          <p:nvPr/>
        </p:nvSpPr>
        <p:spPr>
          <a:xfrm>
            <a:off x="749808" y="1417320"/>
            <a:ext cx="507492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A0E6426-505B-AC6E-CC0A-60F7E73AB7B6}"/>
              </a:ext>
            </a:extLst>
          </p:cNvPr>
          <p:cNvSpPr/>
          <p:nvPr/>
        </p:nvSpPr>
        <p:spPr>
          <a:xfrm>
            <a:off x="749808" y="1417320"/>
            <a:ext cx="118872" cy="1170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D240342-87B4-6099-3D59-46B590F72FC2}"/>
              </a:ext>
            </a:extLst>
          </p:cNvPr>
          <p:cNvSpPr/>
          <p:nvPr/>
        </p:nvSpPr>
        <p:spPr>
          <a:xfrm>
            <a:off x="1005840" y="156362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/>
              <a:t>Retriever</a:t>
            </a:r>
            <a:endParaRPr lang="en-US" sz="124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97F92B7-4964-36DF-9A9C-9218FBBC7C51}"/>
              </a:ext>
            </a:extLst>
          </p:cNvPr>
          <p:cNvSpPr/>
          <p:nvPr/>
        </p:nvSpPr>
        <p:spPr>
          <a:xfrm>
            <a:off x="1005840" y="181965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semantic retrieval from </a:t>
            </a:r>
            <a:r>
              <a:rPr lang="en-US" sz="1100" dirty="0" err="1"/>
              <a:t>ChromaDB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1B73BEE-F9E1-7D17-0E88-045AA5709777}"/>
              </a:ext>
            </a:extLst>
          </p:cNvPr>
          <p:cNvSpPr/>
          <p:nvPr/>
        </p:nvSpPr>
        <p:spPr>
          <a:xfrm>
            <a:off x="6373368" y="1417320"/>
            <a:ext cx="507492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8521E68-4A76-2488-CB36-BFC82AAE32D1}"/>
              </a:ext>
            </a:extLst>
          </p:cNvPr>
          <p:cNvSpPr/>
          <p:nvPr/>
        </p:nvSpPr>
        <p:spPr>
          <a:xfrm>
            <a:off x="6373368" y="1417320"/>
            <a:ext cx="118872" cy="1170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76D62F5-93B4-2433-ADF0-43E664B32839}"/>
              </a:ext>
            </a:extLst>
          </p:cNvPr>
          <p:cNvSpPr/>
          <p:nvPr/>
        </p:nvSpPr>
        <p:spPr>
          <a:xfrm>
            <a:off x="6629400" y="156362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/>
              <a:t>VLM Module</a:t>
            </a:r>
            <a:endParaRPr lang="en-US" sz="124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EDC732E-BB30-DB9F-7CEC-E1974CB86845}"/>
              </a:ext>
            </a:extLst>
          </p:cNvPr>
          <p:cNvSpPr/>
          <p:nvPr/>
        </p:nvSpPr>
        <p:spPr>
          <a:xfrm>
            <a:off x="6629399" y="1819656"/>
            <a:ext cx="31802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structure/topic inference from uploaded diagrams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3643187-29C9-8AB6-6E4D-74BE01A8D3EA}"/>
              </a:ext>
            </a:extLst>
          </p:cNvPr>
          <p:cNvSpPr/>
          <p:nvPr/>
        </p:nvSpPr>
        <p:spPr>
          <a:xfrm>
            <a:off x="749808" y="2990088"/>
            <a:ext cx="507492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6C0F43E-F14C-204B-C3C6-A084916EDE36}"/>
              </a:ext>
            </a:extLst>
          </p:cNvPr>
          <p:cNvSpPr/>
          <p:nvPr/>
        </p:nvSpPr>
        <p:spPr>
          <a:xfrm>
            <a:off x="749808" y="2990088"/>
            <a:ext cx="118872" cy="1170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FD955A9-A8F9-C9CB-0524-B5857D6675F1}"/>
              </a:ext>
            </a:extLst>
          </p:cNvPr>
          <p:cNvSpPr/>
          <p:nvPr/>
        </p:nvSpPr>
        <p:spPr>
          <a:xfrm>
            <a:off x="1005840" y="3136392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/>
              <a:t>Tutoring Controller</a:t>
            </a:r>
            <a:endParaRPr lang="en-US" sz="124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D99E41E-4408-A1E0-DC41-A93765D119FA}"/>
              </a:ext>
            </a:extLst>
          </p:cNvPr>
          <p:cNvSpPr/>
          <p:nvPr/>
        </p:nvSpPr>
        <p:spPr>
          <a:xfrm>
            <a:off x="1005840" y="3392424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masking, escalation, stuck detection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5160020-9C37-13AF-EB2E-924594A68B84}"/>
              </a:ext>
            </a:extLst>
          </p:cNvPr>
          <p:cNvSpPr/>
          <p:nvPr/>
        </p:nvSpPr>
        <p:spPr>
          <a:xfrm>
            <a:off x="6373368" y="2990088"/>
            <a:ext cx="507492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AAF4F4A-CA24-F14B-47F2-D3FD493B0C2C}"/>
              </a:ext>
            </a:extLst>
          </p:cNvPr>
          <p:cNvSpPr/>
          <p:nvPr/>
        </p:nvSpPr>
        <p:spPr>
          <a:xfrm>
            <a:off x="6373368" y="2990088"/>
            <a:ext cx="118872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E602443-479F-A1EF-50AD-B6EB43A5AD8D}"/>
              </a:ext>
            </a:extLst>
          </p:cNvPr>
          <p:cNvSpPr/>
          <p:nvPr/>
        </p:nvSpPr>
        <p:spPr>
          <a:xfrm>
            <a:off x="6629400" y="3136392"/>
            <a:ext cx="16876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/>
              <a:t>Session Memory</a:t>
            </a:r>
            <a:endParaRPr lang="en-US" sz="124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C8B21F4-C0C6-83D6-633B-8160EA53A3A1}"/>
              </a:ext>
            </a:extLst>
          </p:cNvPr>
          <p:cNvSpPr/>
          <p:nvPr/>
        </p:nvSpPr>
        <p:spPr>
          <a:xfrm>
            <a:off x="6629400" y="3392424"/>
            <a:ext cx="21985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weak-topic and confusion tracking</a:t>
            </a: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C072D29-7786-118B-1FBA-FADB4B315BBC}"/>
              </a:ext>
            </a:extLst>
          </p:cNvPr>
          <p:cNvSpPr/>
          <p:nvPr/>
        </p:nvSpPr>
        <p:spPr>
          <a:xfrm>
            <a:off x="749808" y="4562856"/>
            <a:ext cx="507492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D4DEE1E-1B17-D127-9912-74F4AC8FFF67}"/>
              </a:ext>
            </a:extLst>
          </p:cNvPr>
          <p:cNvSpPr/>
          <p:nvPr/>
        </p:nvSpPr>
        <p:spPr>
          <a:xfrm>
            <a:off x="749808" y="4562856"/>
            <a:ext cx="118872" cy="1170432"/>
          </a:xfrm>
          <a:prstGeom prst="rect">
            <a:avLst/>
          </a:prstGeom>
          <a:solidFill>
            <a:srgbClr val="3EC7D3"/>
          </a:solidFill>
          <a:ln w="12700">
            <a:solidFill>
              <a:srgbClr val="3EC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398B162-4A37-9F33-A95F-885EBC818C0B}"/>
              </a:ext>
            </a:extLst>
          </p:cNvPr>
          <p:cNvSpPr/>
          <p:nvPr/>
        </p:nvSpPr>
        <p:spPr>
          <a:xfrm>
            <a:off x="1005840" y="47091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/>
              <a:t>Text Backend</a:t>
            </a:r>
            <a:endParaRPr lang="en-US" sz="14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2F19046-A918-7A12-1EE9-DD5BC5B08766}"/>
              </a:ext>
            </a:extLst>
          </p:cNvPr>
          <p:cNvSpPr/>
          <p:nvPr/>
        </p:nvSpPr>
        <p:spPr>
          <a:xfrm>
            <a:off x="1005839" y="4965192"/>
            <a:ext cx="280640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grounded hint/clue/explanation generation</a:t>
            </a: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48CC158-FE96-41C7-C81E-6960DCCCB38D}"/>
              </a:ext>
            </a:extLst>
          </p:cNvPr>
          <p:cNvSpPr/>
          <p:nvPr/>
        </p:nvSpPr>
        <p:spPr>
          <a:xfrm>
            <a:off x="6373368" y="4562856"/>
            <a:ext cx="507492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9639998F-BA0B-EFA6-C6BB-09FF3BFFE197}"/>
              </a:ext>
            </a:extLst>
          </p:cNvPr>
          <p:cNvSpPr/>
          <p:nvPr/>
        </p:nvSpPr>
        <p:spPr>
          <a:xfrm>
            <a:off x="6373368" y="4562856"/>
            <a:ext cx="118872" cy="1170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56C8DC4-873E-3FE3-1D65-B28B44FFD49B}"/>
              </a:ext>
            </a:extLst>
          </p:cNvPr>
          <p:cNvSpPr/>
          <p:nvPr/>
        </p:nvSpPr>
        <p:spPr>
          <a:xfrm>
            <a:off x="6629400" y="4709160"/>
            <a:ext cx="16876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/>
              <a:t>Assessment Module</a:t>
            </a:r>
            <a:endParaRPr lang="en-US" sz="124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D69C71F-83CF-261A-EFDC-8776F6CFEE9D}"/>
              </a:ext>
            </a:extLst>
          </p:cNvPr>
          <p:cNvSpPr/>
          <p:nvPr/>
        </p:nvSpPr>
        <p:spPr>
          <a:xfrm>
            <a:off x="6629399" y="4965192"/>
            <a:ext cx="23868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mastery summary after explanation</a:t>
            </a: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A4832D00-F5BB-D9CF-3C4D-B9A5D2497845}"/>
              </a:ext>
            </a:extLst>
          </p:cNvPr>
          <p:cNvSpPr/>
          <p:nvPr/>
        </p:nvSpPr>
        <p:spPr>
          <a:xfrm>
            <a:off x="11384280" y="647395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698"/>
                </a:solidFill>
              </a:rPr>
              <a:t>6</a:t>
            </a:r>
            <a:endParaRPr lang="en-US" sz="9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E4081FD9-EDA6-40A0-B341-04A7250AB65E}"/>
              </a:ext>
            </a:extLst>
          </p:cNvPr>
          <p:cNvSpPr/>
          <p:nvPr/>
        </p:nvSpPr>
        <p:spPr>
          <a:xfrm>
            <a:off x="548640" y="645566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5A5"/>
                </a:solidFill>
              </a:rPr>
              <a:t>Socratic-OT | Project 3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206986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EC7D3"/>
          </a:solidFill>
          <a:ln w="12700">
            <a:solidFill>
              <a:srgbClr val="3EC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EC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Pedagogy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Tutoring loop, memory, and assessment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60704"/>
            <a:ext cx="11064240" cy="0"/>
          </a:xfrm>
          <a:prstGeom prst="line">
            <a:avLst/>
          </a:prstGeom>
          <a:noFill/>
          <a:ln w="1524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486400" cy="4892040"/>
          </a:xfrm>
          <a:prstGeom prst="roundRect">
            <a:avLst>
              <a:gd name="adj" fmla="val 2617"/>
            </a:avLst>
          </a:prstGeom>
          <a:solidFill>
            <a:srgbClr val="F5F8FC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6642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3"/>
                </a:solidFill>
              </a:rPr>
              <a:t>Example Socratic interaction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011680"/>
            <a:ext cx="4480560" cy="658368"/>
          </a:xfrm>
          <a:prstGeom prst="roundRect">
            <a:avLst>
              <a:gd name="adj" fmla="val 19444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08483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5B6678"/>
                </a:solidFill>
              </a:rPr>
              <a:t>Tutor turn 1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1051560" y="22311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22033"/>
                </a:solidFill>
              </a:rPr>
              <a:t>Think about the nerve commonly compressed in the carpal tunnel. Which hand movement becomes harder?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1600200" y="2834640"/>
            <a:ext cx="3611880" cy="603504"/>
          </a:xfrm>
          <a:prstGeom prst="roundRect">
            <a:avLst>
              <a:gd name="adj" fmla="val 21212"/>
            </a:avLst>
          </a:prstGeom>
          <a:solidFill>
            <a:srgbClr val="F5F8FC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37360" y="29077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5B6678"/>
                </a:solidFill>
              </a:rPr>
              <a:t>Student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1737360" y="30540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22033"/>
                </a:solidFill>
              </a:rPr>
              <a:t>Thumb movement? Maybe opposition?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914400" y="3611880"/>
            <a:ext cx="4480560" cy="658368"/>
          </a:xfrm>
          <a:prstGeom prst="roundRect">
            <a:avLst>
              <a:gd name="adj" fmla="val 19444"/>
            </a:avLst>
          </a:prstGeom>
          <a:solidFill>
            <a:srgbClr val="EAF8F5"/>
          </a:solidFill>
          <a:ln w="12700">
            <a:solidFill>
              <a:srgbClr val="EAF8F5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1560" y="368503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5B6678"/>
                </a:solidFill>
              </a:rPr>
              <a:t>Tutor turn 2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1051560" y="38313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22033"/>
                </a:solidFill>
              </a:rPr>
              <a:t>Good. Now name the nerve that affects thumb opposition and passes through the wrist.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1600200" y="4434840"/>
            <a:ext cx="3611880" cy="603504"/>
          </a:xfrm>
          <a:prstGeom prst="roundRect">
            <a:avLst>
              <a:gd name="adj" fmla="val 21212"/>
            </a:avLst>
          </a:prstGeom>
          <a:solidFill>
            <a:srgbClr val="F5F8FC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737360" y="45079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5B6678"/>
                </a:solidFill>
              </a:rPr>
              <a:t>Student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1737360" y="46542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22033"/>
                </a:solidFill>
              </a:rPr>
              <a:t>Median nerve.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4297680" y="5285232"/>
            <a:ext cx="914400" cy="256032"/>
          </a:xfrm>
          <a:prstGeom prst="roundRect">
            <a:avLst>
              <a:gd name="adj" fmla="val 4285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97680" y="53218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 leak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46520" y="1417320"/>
            <a:ext cx="5074920" cy="2267712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20840" y="16642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3"/>
                </a:solidFill>
              </a:rPr>
              <a:t>Session memory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729984" y="2057400"/>
            <a:ext cx="1856232" cy="347472"/>
          </a:xfrm>
          <a:prstGeom prst="roundRect">
            <a:avLst>
              <a:gd name="adj" fmla="val 31579"/>
            </a:avLst>
          </a:prstGeom>
          <a:solidFill>
            <a:srgbClr val="DCEBFF"/>
          </a:solidFill>
          <a:ln w="12700">
            <a:solidFill>
              <a:srgbClr val="DCE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29984" y="2093976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2033"/>
                </a:solidFill>
              </a:rPr>
              <a:t>Weak topics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0536" y="2057400"/>
            <a:ext cx="1856232" cy="347472"/>
          </a:xfrm>
          <a:prstGeom prst="roundRect">
            <a:avLst>
              <a:gd name="adj" fmla="val 31579"/>
            </a:avLst>
          </a:prstGeom>
          <a:solidFill>
            <a:srgbClr val="D9F5F1"/>
          </a:solidFill>
          <a:ln w="12700">
            <a:solidFill>
              <a:srgbClr val="D9F5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860536" y="2093976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2033"/>
                </a:solidFill>
              </a:rPr>
              <a:t>Repeated confusion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29984" y="2734056"/>
            <a:ext cx="1856232" cy="347472"/>
          </a:xfrm>
          <a:prstGeom prst="roundRect">
            <a:avLst>
              <a:gd name="adj" fmla="val 31579"/>
            </a:avLst>
          </a:prstGeom>
          <a:solidFill>
            <a:srgbClr val="FFF0D6"/>
          </a:solidFill>
          <a:ln w="12700">
            <a:solidFill>
              <a:srgbClr val="FFF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729984" y="277063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2033"/>
                </a:solidFill>
              </a:rPr>
              <a:t>Recent wrong guesses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860536" y="2734056"/>
            <a:ext cx="1856232" cy="347472"/>
          </a:xfrm>
          <a:prstGeom prst="roundRect">
            <a:avLst>
              <a:gd name="adj" fmla="val 31579"/>
            </a:avLst>
          </a:prstGeom>
          <a:solidFill>
            <a:srgbClr val="EFE7FF"/>
          </a:solidFill>
          <a:ln w="12700">
            <a:solidFill>
              <a:srgbClr val="EFE7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860536" y="277063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2033"/>
                </a:solidFill>
              </a:rPr>
              <a:t>Progress state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46520" y="3931920"/>
            <a:ext cx="507492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720840" y="41696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3"/>
                </a:solidFill>
              </a:rPr>
              <a:t>Assessment beyond MCQs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20840" y="45262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5B6678"/>
                </a:solidFill>
              </a:rPr>
              <a:t>Prompt the student to apply the concept in a clinical scenario, then compare the explanation against the textbook-grounded answer and return a mastery summary.</a:t>
            </a:r>
            <a:endParaRPr lang="en-US" sz="1090" dirty="0"/>
          </a:p>
        </p:txBody>
      </p:sp>
      <p:sp>
        <p:nvSpPr>
          <p:cNvPr id="35" name="Shape 33"/>
          <p:cNvSpPr/>
          <p:nvPr/>
        </p:nvSpPr>
        <p:spPr>
          <a:xfrm>
            <a:off x="6812280" y="5349240"/>
            <a:ext cx="1097280" cy="384048"/>
          </a:xfrm>
          <a:prstGeom prst="roundRect">
            <a:avLst>
              <a:gd name="adj" fmla="val 28571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85432" y="5422392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033"/>
                </a:solidFill>
              </a:rPr>
              <a:t>Question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119872" y="5349240"/>
            <a:ext cx="1097280" cy="384048"/>
          </a:xfrm>
          <a:prstGeom prst="roundRect">
            <a:avLst>
              <a:gd name="adj" fmla="val 28571"/>
            </a:avLst>
          </a:prstGeom>
          <a:solidFill>
            <a:srgbClr val="EAF8F5"/>
          </a:solidFill>
          <a:ln w="12700">
            <a:solidFill>
              <a:srgbClr val="EAF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193024" y="5422392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033"/>
                </a:solidFill>
              </a:rPr>
              <a:t>Apply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418320" y="5349240"/>
            <a:ext cx="1371600" cy="384048"/>
          </a:xfrm>
          <a:prstGeom prst="roundRect">
            <a:avLst>
              <a:gd name="adj" fmla="val 28571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491472" y="5422392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2033"/>
                </a:solidFill>
              </a:rPr>
              <a:t>Mastery summary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927848" y="5394960"/>
            <a:ext cx="128016" cy="292608"/>
          </a:xfrm>
          <a:prstGeom prst="chevron">
            <a:avLst/>
          </a:prstGeom>
          <a:solidFill>
            <a:srgbClr val="D8E1EC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235440" y="5394960"/>
            <a:ext cx="128016" cy="292608"/>
          </a:xfrm>
          <a:prstGeom prst="chevron">
            <a:avLst/>
          </a:prstGeom>
          <a:solidFill>
            <a:srgbClr val="D8E1EC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1384280" y="647395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698"/>
                </a:solidFill>
              </a:rPr>
              <a:t>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" y="645566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5A5"/>
                </a:solidFill>
              </a:rPr>
              <a:t>Socratic-OT | Project 3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EC7D3"/>
          </a:solidFill>
          <a:ln w="12700">
            <a:solidFill>
              <a:srgbClr val="3EC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EC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Multimodal diagram tutoring and transferability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60704"/>
            <a:ext cx="11064240" cy="0"/>
          </a:xfrm>
          <a:prstGeom prst="line">
            <a:avLst/>
          </a:prstGeom>
          <a:noFill/>
          <a:ln w="1524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5486400" cy="4892040"/>
          </a:xfrm>
          <a:prstGeom prst="roundRect">
            <a:avLst>
              <a:gd name="adj" fmla="val 2617"/>
            </a:avLst>
          </a:prstGeom>
          <a:solidFill>
            <a:srgbClr val="F5F8FC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6276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3"/>
                </a:solidFill>
              </a:rPr>
              <a:t>When the student uploads a diagram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51560" y="2057400"/>
            <a:ext cx="4800600" cy="457200"/>
          </a:xfrm>
          <a:prstGeom prst="roundRect">
            <a:avLst>
              <a:gd name="adj" fmla="val 24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24712" y="2130552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Image uploaded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51560" y="2880360"/>
            <a:ext cx="4800600" cy="457200"/>
          </a:xfrm>
          <a:prstGeom prst="roundRect">
            <a:avLst>
              <a:gd name="adj" fmla="val 24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24712" y="2953512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VLM identifies likely structure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51560" y="3703320"/>
            <a:ext cx="4800600" cy="457200"/>
          </a:xfrm>
          <a:prstGeom prst="roundRect">
            <a:avLst>
              <a:gd name="adj" fmla="val 24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24712" y="3776472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Retrieve linked text + metadata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51560" y="4526280"/>
            <a:ext cx="4800600" cy="4572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24712" y="4599432"/>
            <a:ext cx="4654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Ask function / insertion / pathway question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54681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678"/>
                </a:solidFill>
              </a:rPr>
              <a:t>Expected behavior example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0120" y="56692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22033"/>
                </a:solidFill>
              </a:rPr>
              <a:t>Student: “What is this muscle?”</a:t>
            </a: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122033"/>
                </a:solidFill>
              </a:rPr>
              <a:t>Tutor: “Before I name it, what action would you expect from a superficial anterior arm muscle at this location?”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6720840" y="16276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3"/>
                </a:solidFill>
              </a:rPr>
              <a:t>Evaluation metrics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20840" y="201168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B6678"/>
                </a:solidFill>
              </a:rPr>
              <a:t>• Groundedness - RAGAS faithfulness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6720840" y="232257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B6678"/>
                </a:solidFill>
              </a:rPr>
              <a:t>• Socratic purity - No leak before turn 3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6720840" y="263347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B6678"/>
                </a:solidFill>
              </a:rPr>
              <a:t>• Multimodal accuracy - Blind-test diagrams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6720840" y="294436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B6678"/>
                </a:solidFill>
              </a:rPr>
              <a:t>• Generalizability - Swap vector DB to another subject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6446520" y="3749040"/>
            <a:ext cx="5010912" cy="249631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20840" y="4023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3"/>
                </a:solidFill>
              </a:rPr>
              <a:t>Why the design can generalize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720840" y="4416552"/>
            <a:ext cx="4480560" cy="1572768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720840" y="4416552"/>
            <a:ext cx="109728" cy="1572768"/>
          </a:xfrm>
          <a:prstGeom prst="rect">
            <a:avLst/>
          </a:prstGeom>
          <a:solidFill>
            <a:srgbClr val="3EC7D3"/>
          </a:solidFill>
          <a:ln w="12700">
            <a:solidFill>
              <a:srgbClr val="3EC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58584" y="4581144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3"/>
                </a:solidFill>
              </a:rPr>
              <a:t>Domain-agnostic core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58584" y="4892040"/>
            <a:ext cx="409651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5B6678"/>
                </a:solidFill>
              </a:rPr>
              <a:t>• Same retrieval + policy + memory loop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5B6678"/>
                </a:solidFill>
              </a:rPr>
              <a:t>• Only the vector store and image metadata need to change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5B6678"/>
                </a:solidFill>
              </a:rPr>
              <a:t>• Makes a Physics or Biology variant realistic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384280" y="647395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698"/>
                </a:solidFill>
              </a:rPr>
              <a:t>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645566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5A5"/>
                </a:solidFill>
              </a:rPr>
              <a:t>Socratic-OT | Project 3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FA050-D02F-6DAB-710B-4F4D8713E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312699C-42E0-E76C-056A-D3F30A963E5D}"/>
              </a:ext>
            </a:extLst>
          </p:cNvPr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EC7D3"/>
          </a:solidFill>
          <a:ln w="12700">
            <a:solidFill>
              <a:srgbClr val="3EC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F4E52D-DB15-F453-51C5-75FCD02FD222}"/>
              </a:ext>
            </a:extLst>
          </p:cNvPr>
          <p:cNvSpPr/>
          <p:nvPr/>
        </p:nvSpPr>
        <p:spPr>
          <a:xfrm>
            <a:off x="54864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EC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D9BB926-919C-2C21-7BA6-E2D072CD5737}"/>
              </a:ext>
            </a:extLst>
          </p:cNvPr>
          <p:cNvSpPr/>
          <p:nvPr/>
        </p:nvSpPr>
        <p:spPr>
          <a:xfrm>
            <a:off x="548640" y="603504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Metrics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8830B8C-8DE8-64D5-630D-3102C55BED14}"/>
              </a:ext>
            </a:extLst>
          </p:cNvPr>
          <p:cNvSpPr/>
          <p:nvPr/>
        </p:nvSpPr>
        <p:spPr>
          <a:xfrm>
            <a:off x="548640" y="1060704"/>
            <a:ext cx="11064240" cy="0"/>
          </a:xfrm>
          <a:prstGeom prst="line">
            <a:avLst/>
          </a:prstGeom>
          <a:noFill/>
          <a:ln w="1524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AE32501-5C30-683C-7640-6A8B1AE7919C}"/>
              </a:ext>
            </a:extLst>
          </p:cNvPr>
          <p:cNvSpPr/>
          <p:nvPr/>
        </p:nvSpPr>
        <p:spPr>
          <a:xfrm>
            <a:off x="11384280" y="647395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698"/>
                </a:solidFill>
              </a:rPr>
              <a:t>8</a:t>
            </a:r>
            <a:endParaRPr lang="en-US" sz="9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9CDF255-DB4F-2CEB-9B02-D4138F31218E}"/>
              </a:ext>
            </a:extLst>
          </p:cNvPr>
          <p:cNvSpPr/>
          <p:nvPr/>
        </p:nvSpPr>
        <p:spPr>
          <a:xfrm>
            <a:off x="548640" y="645566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5A5"/>
                </a:solidFill>
              </a:rPr>
              <a:t>Socratic-OT | Project 3</a:t>
            </a:r>
            <a:endParaRPr lang="en-US" sz="850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1B16E52-3B2E-E214-B2BA-89678B4BD8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729617"/>
              </p:ext>
            </p:extLst>
          </p:nvPr>
        </p:nvGraphicFramePr>
        <p:xfrm>
          <a:off x="885701" y="1212675"/>
          <a:ext cx="10063348" cy="5023080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45098"/>
                  </a:srgbClr>
                </a:solidFill>
              </a:tblPr>
              <a:tblGrid>
                <a:gridCol w="4875531">
                  <a:extLst>
                    <a:ext uri="{9D8B030D-6E8A-4147-A177-3AD203B41FA5}">
                      <a16:colId xmlns:a16="http://schemas.microsoft.com/office/drawing/2014/main" val="1972653688"/>
                    </a:ext>
                  </a:extLst>
                </a:gridCol>
                <a:gridCol w="3195028">
                  <a:extLst>
                    <a:ext uri="{9D8B030D-6E8A-4147-A177-3AD203B41FA5}">
                      <a16:colId xmlns:a16="http://schemas.microsoft.com/office/drawing/2014/main" val="3713515827"/>
                    </a:ext>
                  </a:extLst>
                </a:gridCol>
                <a:gridCol w="1992789">
                  <a:extLst>
                    <a:ext uri="{9D8B030D-6E8A-4147-A177-3AD203B41FA5}">
                      <a16:colId xmlns:a16="http://schemas.microsoft.com/office/drawing/2014/main" val="44489721"/>
                    </a:ext>
                  </a:extLst>
                </a:gridCol>
              </a:tblGrid>
              <a:tr h="444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cap="none" spc="0" dirty="0">
                          <a:solidFill>
                            <a:schemeClr val="tx1"/>
                          </a:solidFill>
                        </a:rPr>
                        <a:t>Metric</a:t>
                      </a:r>
                      <a:endParaRPr lang="en-US" sz="2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cap="none" spc="0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en-US" sz="2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cap="none" spc="0">
                          <a:solidFill>
                            <a:schemeClr val="tx1"/>
                          </a:solidFill>
                        </a:rPr>
                        <a:t>Target</a:t>
                      </a:r>
                      <a:endParaRPr lang="en-US" sz="2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138779"/>
                  </a:ext>
                </a:extLst>
              </a:tr>
              <a:tr h="444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Faithfulness (RAGAS)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Quantitative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 dirty="0">
                          <a:solidFill>
                            <a:schemeClr val="tx1"/>
                          </a:solidFill>
                        </a:rPr>
                        <a:t>≥ 0.90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339508"/>
                  </a:ext>
                </a:extLst>
              </a:tr>
              <a:tr h="400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Answer Relevance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Quantitative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≥ 0.85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025489"/>
                  </a:ext>
                </a:extLst>
              </a:tr>
              <a:tr h="444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 dirty="0">
                          <a:solidFill>
                            <a:schemeClr val="tx1"/>
                          </a:solidFill>
                        </a:rPr>
                        <a:t>Context Recall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Quantitative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≥ 0.80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33124"/>
                  </a:ext>
                </a:extLst>
              </a:tr>
              <a:tr h="444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 dirty="0">
                          <a:solidFill>
                            <a:schemeClr val="tx1"/>
                          </a:solidFill>
                        </a:rPr>
                        <a:t>Context Precision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Quantitative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≥ 0.80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481448"/>
                  </a:ext>
                </a:extLst>
              </a:tr>
              <a:tr h="444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 dirty="0">
                          <a:solidFill>
                            <a:schemeClr val="tx1"/>
                          </a:solidFill>
                        </a:rPr>
                        <a:t>Socratic Purity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Qualitative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683004"/>
                  </a:ext>
                </a:extLst>
              </a:tr>
              <a:tr h="444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Structure ID Accuracy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Quantitative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≥ 0.80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976066"/>
                  </a:ext>
                </a:extLst>
              </a:tr>
              <a:tr h="444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Follow-up Relevance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Human (1–5)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≥ 4.0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638907"/>
                  </a:ext>
                </a:extLst>
              </a:tr>
              <a:tr h="444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 dirty="0">
                          <a:solidFill>
                            <a:schemeClr val="tx1"/>
                          </a:solidFill>
                        </a:rPr>
                        <a:t>Domain Swap Test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>
                          <a:solidFill>
                            <a:schemeClr val="tx1"/>
                          </a:solidFill>
                        </a:rPr>
                        <a:t>Binary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cap="none" spc="0" dirty="0">
                          <a:solidFill>
                            <a:schemeClr val="tx1"/>
                          </a:solidFill>
                        </a:rPr>
                        <a:t>Pass</a:t>
                      </a:r>
                    </a:p>
                  </a:txBody>
                  <a:tcPr marL="158720" marR="158720" marT="158720" marB="7936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01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5018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EC7D3"/>
          </a:solidFill>
          <a:ln w="12700">
            <a:solidFill>
              <a:srgbClr val="3EC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EC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060704"/>
            <a:ext cx="11064240" cy="0"/>
          </a:xfrm>
          <a:prstGeom prst="line">
            <a:avLst/>
          </a:prstGeom>
          <a:noFill/>
          <a:ln w="1524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250276" y="1727859"/>
            <a:ext cx="5413248" cy="3749040"/>
          </a:xfrm>
          <a:prstGeom prst="roundRect">
            <a:avLst>
              <a:gd name="adj" fmla="val 3415"/>
            </a:avLst>
          </a:prstGeom>
          <a:solidFill>
            <a:srgbClr val="F5F8FC"/>
          </a:solidFill>
          <a:ln w="12700">
            <a:solidFill>
              <a:srgbClr val="D8E1EC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33740" y="2002179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3"/>
                </a:solidFill>
              </a:rPr>
              <a:t>Implementation roadmap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542884" y="2413659"/>
            <a:ext cx="749808" cy="292608"/>
          </a:xfrm>
          <a:prstGeom prst="roundRect">
            <a:avLst>
              <a:gd name="adj" fmla="val 375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42884" y="2450235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03004" y="2431947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122033"/>
                </a:solidFill>
              </a:rPr>
              <a:t>Knowledge base</a:t>
            </a:r>
            <a:endParaRPr lang="en-US" sz="1140" dirty="0"/>
          </a:p>
        </p:txBody>
      </p:sp>
      <p:sp>
        <p:nvSpPr>
          <p:cNvPr id="29" name="Text 27"/>
          <p:cNvSpPr/>
          <p:nvPr/>
        </p:nvSpPr>
        <p:spPr>
          <a:xfrm>
            <a:off x="5417404" y="2413659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8"/>
                </a:solidFill>
              </a:rPr>
              <a:t>Text chunks + image metadata pipeline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542884" y="3072027"/>
            <a:ext cx="749808" cy="292608"/>
          </a:xfrm>
          <a:prstGeom prst="roundRect">
            <a:avLst>
              <a:gd name="adj" fmla="val 375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42884" y="3108603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03004" y="3090315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122033"/>
                </a:solidFill>
              </a:rPr>
              <a:t>Retrieval layer</a:t>
            </a:r>
            <a:endParaRPr lang="en-US" sz="1140" dirty="0"/>
          </a:p>
        </p:txBody>
      </p:sp>
      <p:sp>
        <p:nvSpPr>
          <p:cNvPr id="33" name="Text 31"/>
          <p:cNvSpPr/>
          <p:nvPr/>
        </p:nvSpPr>
        <p:spPr>
          <a:xfrm>
            <a:off x="5417404" y="3072027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8"/>
                </a:solidFill>
              </a:rPr>
              <a:t>Embeddings, ChromaDB, reranking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42884" y="3730395"/>
            <a:ext cx="749808" cy="292608"/>
          </a:xfrm>
          <a:prstGeom prst="roundRect">
            <a:avLst>
              <a:gd name="adj" fmla="val 375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542884" y="3766971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Then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03004" y="3748683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122033"/>
                </a:solidFill>
              </a:rPr>
              <a:t>Tutor policy</a:t>
            </a:r>
            <a:endParaRPr lang="en-US" sz="1140" dirty="0"/>
          </a:p>
        </p:txBody>
      </p:sp>
      <p:sp>
        <p:nvSpPr>
          <p:cNvPr id="37" name="Text 35"/>
          <p:cNvSpPr/>
          <p:nvPr/>
        </p:nvSpPr>
        <p:spPr>
          <a:xfrm>
            <a:off x="5417404" y="3730395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8"/>
                </a:solidFill>
              </a:rPr>
              <a:t>Dialogue manager, masking, memory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542884" y="4388763"/>
            <a:ext cx="749808" cy="292608"/>
          </a:xfrm>
          <a:prstGeom prst="roundRect">
            <a:avLst>
              <a:gd name="adj" fmla="val 37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542884" y="4425339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03004" y="4407051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122033"/>
                </a:solidFill>
              </a:rPr>
              <a:t>Evaluation</a:t>
            </a:r>
            <a:endParaRPr lang="en-US" sz="1140" dirty="0"/>
          </a:p>
        </p:txBody>
      </p:sp>
      <p:sp>
        <p:nvSpPr>
          <p:cNvPr id="41" name="Text 39"/>
          <p:cNvSpPr/>
          <p:nvPr/>
        </p:nvSpPr>
        <p:spPr>
          <a:xfrm>
            <a:off x="5417404" y="4388763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8"/>
                </a:solidFill>
              </a:rPr>
              <a:t>Transcripts, blind image test, RAGAS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05840" y="5669280"/>
            <a:ext cx="10104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30" dirty="0"/>
          </a:p>
        </p:txBody>
      </p:sp>
      <p:sp>
        <p:nvSpPr>
          <p:cNvPr id="44" name="Text 42"/>
          <p:cNvSpPr/>
          <p:nvPr/>
        </p:nvSpPr>
        <p:spPr>
          <a:xfrm>
            <a:off x="11384280" y="647395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698"/>
                </a:solidFill>
              </a:rPr>
              <a:t>9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645566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5A5"/>
                </a:solidFill>
              </a:rPr>
              <a:t>Socratic-OT | Project 3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98080" cy="6858000"/>
          </a:xfrm>
          <a:prstGeom prst="rect">
            <a:avLst/>
          </a:prstGeom>
          <a:solidFill>
            <a:srgbClr val="0E1B2B"/>
          </a:solidFill>
          <a:ln w="12700">
            <a:solidFill>
              <a:srgbClr val="0E1B2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7498080" y="0"/>
            <a:ext cx="4693615" cy="6858000"/>
          </a:xfrm>
          <a:prstGeom prst="rect">
            <a:avLst/>
          </a:prstGeom>
          <a:solidFill>
            <a:srgbClr val="12253C"/>
          </a:solidFill>
          <a:ln w="12700">
            <a:solidFill>
              <a:srgbClr val="1225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" y="84124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this project is worth building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541344"/>
            <a:ext cx="6035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E3F0"/>
                </a:solidFill>
              </a:rPr>
              <a:t>It is not just a chatbot. It is a guided, grounded tutor that turns anatomy content into a reasoning-focused learning experience.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F7FBFF"/>
          </a:solidFill>
          <a:ln w="12700">
            <a:solidFill>
              <a:srgbClr val="254769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" y="2542032"/>
            <a:ext cx="960120" cy="27432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257860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Grounded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2907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22033"/>
                </a:solidFill>
              </a:rPr>
              <a:t>Answers come only from approved text and diagrams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3931920" y="2377440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F7FBFF"/>
          </a:solidFill>
          <a:ln w="12700">
            <a:solidFill>
              <a:srgbClr val="254769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0" y="2542032"/>
            <a:ext cx="960120" cy="274320"/>
          </a:xfrm>
          <a:prstGeom prst="roundRect">
            <a:avLst>
              <a:gd name="adj" fmla="val 4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0" y="257860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Socratic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2907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22033"/>
                </a:solidFill>
              </a:rPr>
              <a:t>Hints first; no direct answer before turn 3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868680" y="3730752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F7FBFF"/>
          </a:solidFill>
          <a:ln w="12700">
            <a:solidFill>
              <a:srgbClr val="254769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51560" y="3895344"/>
            <a:ext cx="960120" cy="27432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393192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Multimodal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" y="42611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22033"/>
                </a:solidFill>
              </a:rPr>
              <a:t>Supports both text questions and anatomy diagrams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3931920" y="3730752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F7FBFF"/>
          </a:solidFill>
          <a:ln w="12700">
            <a:solidFill>
              <a:srgbClr val="254769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0" y="3895344"/>
            <a:ext cx="960120" cy="27432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0" y="393192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Assessable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0" y="42611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122033"/>
                </a:solidFill>
              </a:rPr>
              <a:t>Measures mastery rather than just answer recall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7315200" y="1097280"/>
            <a:ext cx="3931920" cy="4206240"/>
          </a:xfrm>
          <a:prstGeom prst="roundRect">
            <a:avLst>
              <a:gd name="adj" fmla="val 3256"/>
            </a:avLst>
          </a:prstGeom>
          <a:solidFill>
            <a:srgbClr val="F7FBFF"/>
          </a:solidFill>
          <a:ln w="12700">
            <a:solidFill>
              <a:srgbClr val="254769"/>
            </a:solidFill>
            <a:prstDash val="solid"/>
          </a:ln>
          <a:effectLst>
            <a:outerShdw blurRad="15240" dist="762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89520" y="14447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89520" y="1847088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122033"/>
                </a:solidFill>
              </a:rPr>
              <a:t>“We are proposing a tutoring system that knows the answer, but chooses to teach instead of tell.”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589520" y="38221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033"/>
                </a:solidFill>
              </a:rPr>
              <a:t>Questions?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589520" y="4224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8"/>
                </a:solidFill>
              </a:rPr>
              <a:t>Thank you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384280" y="6473952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E3F0"/>
                </a:solidFill>
              </a:rPr>
              <a:t>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645566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7EA"/>
                </a:solidFill>
              </a:rPr>
              <a:t>Socratic-OT | Project 3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1561</Words>
  <Application>Microsoft Macintosh PowerPoint</Application>
  <PresentationFormat>Widescreen</PresentationFormat>
  <Paragraphs>308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Socratic-OT: Grounded Multimodal Socratic Tutor</dc:title>
  <dc:subject>Project 3 - Socratic-OT Multimodal AI Tutor</dc:subject>
  <dc:creator>OpenAI</dc:creator>
  <cp:lastModifiedBy>Vidhyadhari Bandaru</cp:lastModifiedBy>
  <cp:revision>7</cp:revision>
  <dcterms:created xsi:type="dcterms:W3CDTF">2026-03-24T07:12:49Z</dcterms:created>
  <dcterms:modified xsi:type="dcterms:W3CDTF">2026-03-24T13:47:24Z</dcterms:modified>
</cp:coreProperties>
</file>